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0" r:id="rId3"/>
    <p:sldId id="257" r:id="rId4"/>
    <p:sldId id="270" r:id="rId5"/>
    <p:sldId id="266" r:id="rId6"/>
    <p:sldId id="268" r:id="rId7"/>
    <p:sldId id="269" r:id="rId8"/>
    <p:sldId id="274" r:id="rId9"/>
    <p:sldId id="271" r:id="rId10"/>
    <p:sldId id="275" r:id="rId11"/>
    <p:sldId id="277" r:id="rId12"/>
    <p:sldId id="273" r:id="rId13"/>
    <p:sldId id="276" r:id="rId14"/>
    <p:sldId id="280" r:id="rId15"/>
    <p:sldId id="278" r:id="rId16"/>
    <p:sldId id="279" r:id="rId17"/>
    <p:sldId id="265" r:id="rId18"/>
  </p:sldIdLst>
  <p:sldSz cx="18288000" cy="10287000"/>
  <p:notesSz cx="6858000" cy="9144000"/>
  <p:embeddedFontLst>
    <p:embeddedFont>
      <p:font typeface="Prata" panose="020B0604020202020204" charset="0"/>
      <p:regular r:id="rId19"/>
    </p:embeddedFont>
    <p:embeddedFont>
      <p:font typeface="Raleway" pitchFamily="2" charset="0"/>
      <p:regular r:id="rId20"/>
      <p:bold r:id="rId21"/>
    </p:embeddedFont>
    <p:embeddedFont>
      <p:font typeface="Raleway Bold"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E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21:34:13.532"/>
    </inkml:context>
    <inkml:brush xml:id="br0">
      <inkml:brushProperty name="width" value="0.035" units="cm"/>
      <inkml:brushProperty name="height" value="0.035" units="cm"/>
    </inkml:brush>
  </inkml:definitions>
  <inkml:trace contextRef="#ctx0" brushRef="#br0">0 0 24575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21:34:13.532"/>
    </inkml:context>
    <inkml:brush xml:id="br0">
      <inkml:brushProperty name="width" value="0.035" units="cm"/>
      <inkml:brushProperty name="height" value="0.035" units="cm"/>
    </inkml:brush>
  </inkml:definitions>
  <inkml:trace contextRef="#ctx0" brushRef="#br0">0 0 24575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21:34:13.532"/>
    </inkml:context>
    <inkml:brush xml:id="br0">
      <inkml:brushProperty name="width" value="0.035" units="cm"/>
      <inkml:brushProperty name="height" value="0.035" units="cm"/>
    </inkml:brush>
  </inkml:definitions>
  <inkml:trace contextRef="#ctx0" brushRef="#br0">0 0 24575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21:34:13.532"/>
    </inkml:context>
    <inkml:brush xml:id="br0">
      <inkml:brushProperty name="width" value="0.035" units="cm"/>
      <inkml:brushProperty name="height" value="0.035" units="cm"/>
    </inkml:brush>
  </inkml:definitions>
  <inkml:trace contextRef="#ctx0" brushRef="#br0">0 0 24575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21:34:13.532"/>
    </inkml:context>
    <inkml:brush xml:id="br0">
      <inkml:brushProperty name="width" value="0.035" units="cm"/>
      <inkml:brushProperty name="height" value="0.035" units="cm"/>
    </inkml:brush>
  </inkml:definitions>
  <inkml:trace contextRef="#ctx0" brushRef="#br0">0 0 24575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1752600" y="3639608"/>
            <a:ext cx="12734892" cy="1535036"/>
          </a:xfrm>
          <a:prstGeom prst="rect">
            <a:avLst/>
          </a:prstGeom>
        </p:spPr>
        <p:txBody>
          <a:bodyPr lIns="0" tIns="0" rIns="0" bIns="0" rtlCol="0" anchor="t">
            <a:spAutoFit/>
          </a:bodyPr>
          <a:lstStyle/>
          <a:p>
            <a:pPr algn="ctr">
              <a:lnSpc>
                <a:spcPts val="11400"/>
              </a:lnSpc>
            </a:pPr>
            <a:r>
              <a:rPr lang="en-US" sz="11400" dirty="0">
                <a:solidFill>
                  <a:srgbClr val="344E41"/>
                </a:solidFill>
                <a:latin typeface="Prata"/>
                <a:ea typeface="Prata"/>
                <a:cs typeface="Prata"/>
                <a:sym typeface="Prata"/>
              </a:rPr>
              <a:t>B and B+ Trees</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6" name="TextBox 6"/>
          <p:cNvSpPr txBox="1"/>
          <p:nvPr/>
        </p:nvSpPr>
        <p:spPr>
          <a:xfrm>
            <a:off x="12554554" y="9565005"/>
            <a:ext cx="5913783" cy="415290"/>
          </a:xfrm>
          <a:prstGeom prst="rect">
            <a:avLst/>
          </a:prstGeom>
        </p:spPr>
        <p:txBody>
          <a:bodyPr lIns="0" tIns="0" rIns="0" bIns="0" rtlCol="0" anchor="t">
            <a:spAutoFit/>
          </a:bodyPr>
          <a:lstStyle/>
          <a:p>
            <a:pPr algn="ctr">
              <a:lnSpc>
                <a:spcPts val="3359"/>
              </a:lnSpc>
            </a:pPr>
            <a:r>
              <a:rPr lang="en-US" sz="2400" dirty="0">
                <a:solidFill>
                  <a:srgbClr val="344E41"/>
                </a:solidFill>
                <a:latin typeface="Raleway"/>
                <a:ea typeface="Raleway"/>
                <a:cs typeface="Raleway"/>
                <a:sym typeface="Raleway"/>
              </a:rPr>
              <a:t>G Roweena Siphora</a:t>
            </a:r>
          </a:p>
        </p:txBody>
      </p:sp>
      <p:sp>
        <p:nvSpPr>
          <p:cNvPr id="8" name="TextBox 8"/>
          <p:cNvSpPr txBox="1"/>
          <p:nvPr/>
        </p:nvSpPr>
        <p:spPr>
          <a:xfrm>
            <a:off x="1028700" y="9510857"/>
            <a:ext cx="2956891" cy="415290"/>
          </a:xfrm>
          <a:prstGeom prst="rect">
            <a:avLst/>
          </a:prstGeom>
        </p:spPr>
        <p:txBody>
          <a:bodyPr lIns="0" tIns="0" rIns="0" bIns="0" rtlCol="0" anchor="t">
            <a:spAutoFit/>
          </a:bodyPr>
          <a:lstStyle/>
          <a:p>
            <a:pPr algn="l">
              <a:lnSpc>
                <a:spcPts val="3359"/>
              </a:lnSpc>
            </a:pPr>
            <a:r>
              <a:rPr lang="en-US" sz="2400" dirty="0">
                <a:solidFill>
                  <a:srgbClr val="344E41"/>
                </a:solidFill>
                <a:latin typeface="Raleway"/>
                <a:ea typeface="Raleway"/>
                <a:cs typeface="Raleway"/>
                <a:sym typeface="Raleway"/>
              </a:rPr>
              <a:t>2026 January 7</a:t>
            </a:r>
          </a:p>
        </p:txBody>
      </p:sp>
      <p:sp>
        <p:nvSpPr>
          <p:cNvPr id="9" name="TextBox 5">
            <a:extLst>
              <a:ext uri="{FF2B5EF4-FFF2-40B4-BE49-F238E27FC236}">
                <a16:creationId xmlns:a16="http://schemas.microsoft.com/office/drawing/2014/main" id="{5244BDAA-082D-56E4-4C48-98F31C43E6F4}"/>
              </a:ext>
            </a:extLst>
          </p:cNvPr>
          <p:cNvSpPr txBox="1"/>
          <p:nvPr/>
        </p:nvSpPr>
        <p:spPr>
          <a:xfrm>
            <a:off x="7848600" y="4686300"/>
            <a:ext cx="12734892" cy="783676"/>
          </a:xfrm>
          <a:prstGeom prst="rect">
            <a:avLst/>
          </a:prstGeom>
        </p:spPr>
        <p:txBody>
          <a:bodyPr lIns="0" tIns="0" rIns="0" bIns="0" rtlCol="0" anchor="t">
            <a:spAutoFit/>
          </a:bodyPr>
          <a:lstStyle/>
          <a:p>
            <a:pPr algn="ctr">
              <a:lnSpc>
                <a:spcPts val="7000"/>
              </a:lnSpc>
            </a:pPr>
            <a:r>
              <a:rPr lang="en-US" sz="2800" dirty="0">
                <a:solidFill>
                  <a:srgbClr val="344E41"/>
                </a:solidFill>
                <a:latin typeface="Prata" panose="020B0604020202020204" charset="0"/>
                <a:ea typeface="Raleway"/>
                <a:cs typeface="Raleway"/>
                <a:sym typeface="Raleway"/>
              </a:rPr>
              <a:t>The efficient multi-way search trees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1028699" y="933450"/>
            <a:ext cx="6972295" cy="829073"/>
          </a:xfrm>
          <a:prstGeom prst="rect">
            <a:avLst/>
          </a:prstGeom>
        </p:spPr>
        <p:txBody>
          <a:bodyPr wrap="square" lIns="0" tIns="0" rIns="0" bIns="0" rtlCol="0" anchor="t">
            <a:spAutoFit/>
          </a:bodyPr>
          <a:lstStyle/>
          <a:p>
            <a:pPr algn="l">
              <a:lnSpc>
                <a:spcPts val="6719"/>
              </a:lnSpc>
            </a:pPr>
            <a:r>
              <a:rPr lang="en-US" sz="4800" dirty="0">
                <a:solidFill>
                  <a:srgbClr val="344E41"/>
                </a:solidFill>
                <a:latin typeface="Prata"/>
                <a:ea typeface="Prata"/>
                <a:cs typeface="Prata"/>
                <a:sym typeface="Prata"/>
              </a:rPr>
              <a:t>Need of B and B+ trees</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2</a:t>
            </a:r>
          </a:p>
        </p:txBody>
      </p:sp>
      <p:sp>
        <p:nvSpPr>
          <p:cNvPr id="6" name="AutoShape 6"/>
          <p:cNvSpPr/>
          <p:nvPr/>
        </p:nvSpPr>
        <p:spPr>
          <a:xfrm>
            <a:off x="6178488" y="5291335"/>
            <a:ext cx="10739797" cy="0"/>
          </a:xfrm>
          <a:prstGeom prst="line">
            <a:avLst/>
          </a:prstGeom>
          <a:ln w="9525" cap="flat">
            <a:solidFill>
              <a:srgbClr val="804F3B"/>
            </a:solidFill>
            <a:prstDash val="solid"/>
            <a:headEnd type="none" w="sm" len="sm"/>
            <a:tailEnd type="none" w="sm" len="sm"/>
          </a:ln>
        </p:spPr>
      </p:sp>
      <p:sp>
        <p:nvSpPr>
          <p:cNvPr id="7" name="AutoShape 7"/>
          <p:cNvSpPr/>
          <p:nvPr/>
        </p:nvSpPr>
        <p:spPr>
          <a:xfrm>
            <a:off x="11548387" y="1649440"/>
            <a:ext cx="0" cy="6826195"/>
          </a:xfrm>
          <a:prstGeom prst="line">
            <a:avLst/>
          </a:prstGeom>
          <a:ln w="9525" cap="flat">
            <a:solidFill>
              <a:srgbClr val="804F3B"/>
            </a:solidFill>
            <a:prstDash val="solid"/>
            <a:headEnd type="none" w="sm" len="sm"/>
            <a:tailEnd type="none" w="sm" len="sm"/>
          </a:ln>
        </p:spPr>
      </p:sp>
      <p:sp>
        <p:nvSpPr>
          <p:cNvPr id="8" name="TextBox 8"/>
          <p:cNvSpPr txBox="1"/>
          <p:nvPr/>
        </p:nvSpPr>
        <p:spPr>
          <a:xfrm>
            <a:off x="6666242" y="1943100"/>
            <a:ext cx="4343866" cy="769954"/>
          </a:xfrm>
          <a:prstGeom prst="rect">
            <a:avLst/>
          </a:prstGeom>
        </p:spPr>
        <p:txBody>
          <a:bodyPr lIns="0" tIns="0" rIns="0" bIns="0" rtlCol="0" anchor="t">
            <a:spAutoFit/>
          </a:bodyPr>
          <a:lstStyle/>
          <a:p>
            <a:r>
              <a:rPr lang="en-US" sz="2400" b="1" dirty="0">
                <a:solidFill>
                  <a:srgbClr val="344E41"/>
                </a:solidFill>
                <a:latin typeface="Raleway Bold" charset="0"/>
              </a:rPr>
              <a:t>Reduced Tree Height</a:t>
            </a:r>
            <a:endParaRPr lang="en-US" sz="2400" dirty="0">
              <a:solidFill>
                <a:srgbClr val="344E41"/>
              </a:solidFill>
              <a:latin typeface="Raleway Bold" charset="0"/>
            </a:endParaRPr>
          </a:p>
          <a:p>
            <a:pPr algn="l">
              <a:lnSpc>
                <a:spcPts val="3359"/>
              </a:lnSpc>
            </a:pPr>
            <a:endParaRPr lang="en-US" sz="2400" b="1" dirty="0">
              <a:solidFill>
                <a:srgbClr val="344E41"/>
              </a:solidFill>
              <a:latin typeface="Raleway Bold"/>
              <a:ea typeface="Raleway Bold"/>
              <a:cs typeface="Raleway Bold"/>
              <a:sym typeface="Raleway Bold"/>
            </a:endParaRPr>
          </a:p>
        </p:txBody>
      </p:sp>
      <p:sp>
        <p:nvSpPr>
          <p:cNvPr id="9" name="TextBox 9"/>
          <p:cNvSpPr txBox="1"/>
          <p:nvPr/>
        </p:nvSpPr>
        <p:spPr>
          <a:xfrm>
            <a:off x="6666242" y="2709665"/>
            <a:ext cx="4343866" cy="2738635"/>
          </a:xfrm>
          <a:prstGeom prst="rect">
            <a:avLst/>
          </a:prstGeom>
        </p:spPr>
        <p:txBody>
          <a:bodyPr lIns="0" tIns="0" rIns="0" bIns="0" rtlCol="0" anchor="t">
            <a:spAutoFit/>
          </a:bodyPr>
          <a:lstStyle/>
          <a:p>
            <a:pPr algn="l">
              <a:lnSpc>
                <a:spcPts val="2700"/>
              </a:lnSpc>
            </a:pPr>
            <a:r>
              <a:rPr lang="en-US" sz="1800" dirty="0">
                <a:solidFill>
                  <a:srgbClr val="344E41"/>
                </a:solidFill>
                <a:latin typeface="Raleway"/>
                <a:ea typeface="Raleway"/>
                <a:cs typeface="Raleway"/>
                <a:sym typeface="Raleway"/>
              </a:rPr>
              <a:t>In a B-tree, each node can store multiple keys and have many children.</a:t>
            </a:r>
            <a:br>
              <a:rPr lang="en-US" sz="1800" dirty="0">
                <a:solidFill>
                  <a:srgbClr val="344E41"/>
                </a:solidFill>
                <a:latin typeface="Raleway"/>
                <a:ea typeface="Raleway"/>
                <a:cs typeface="Raleway"/>
                <a:sym typeface="Raleway"/>
              </a:rPr>
            </a:br>
            <a:r>
              <a:rPr lang="en-US" sz="1800" dirty="0">
                <a:solidFill>
                  <a:srgbClr val="344E41"/>
                </a:solidFill>
                <a:latin typeface="Raleway"/>
                <a:ea typeface="Raleway"/>
                <a:cs typeface="Raleway"/>
                <a:sym typeface="Raleway"/>
              </a:rPr>
              <a:t>Because of this, the tree grows wide instead of tall.</a:t>
            </a:r>
            <a:br>
              <a:rPr lang="en-US" sz="1800" dirty="0">
                <a:solidFill>
                  <a:srgbClr val="344E41"/>
                </a:solidFill>
                <a:latin typeface="Raleway"/>
                <a:ea typeface="Raleway"/>
                <a:cs typeface="Raleway"/>
                <a:sym typeface="Raleway"/>
              </a:rPr>
            </a:br>
            <a:r>
              <a:rPr lang="en-US" sz="1800" dirty="0">
                <a:solidFill>
                  <a:srgbClr val="344E41"/>
                </a:solidFill>
                <a:latin typeface="Raleway"/>
                <a:ea typeface="Raleway"/>
                <a:cs typeface="Raleway"/>
                <a:sym typeface="Raleway"/>
              </a:rPr>
              <a:t>A shorter tree means fewer levels to traverse during search.</a:t>
            </a:r>
          </a:p>
          <a:p>
            <a:pPr algn="l">
              <a:lnSpc>
                <a:spcPts val="2700"/>
              </a:lnSpc>
            </a:pPr>
            <a:r>
              <a:rPr lang="en-US" sz="1800" b="1" dirty="0">
                <a:solidFill>
                  <a:srgbClr val="344E41"/>
                </a:solidFill>
                <a:latin typeface="Raleway"/>
                <a:ea typeface="Raleway"/>
                <a:cs typeface="Raleway"/>
                <a:sym typeface="Raleway"/>
              </a:rPr>
              <a:t>Fewer levels = faster operations.</a:t>
            </a:r>
          </a:p>
          <a:p>
            <a:pPr algn="l">
              <a:lnSpc>
                <a:spcPts val="2700"/>
              </a:lnSpc>
            </a:pPr>
            <a:endParaRPr lang="en-US" sz="1800" dirty="0">
              <a:solidFill>
                <a:srgbClr val="344E41"/>
              </a:solidFill>
              <a:latin typeface="Raleway"/>
              <a:ea typeface="Raleway"/>
              <a:cs typeface="Raleway"/>
              <a:sym typeface="Raleway"/>
            </a:endParaRPr>
          </a:p>
        </p:txBody>
      </p:sp>
      <p:sp>
        <p:nvSpPr>
          <p:cNvPr id="10" name="TextBox 10"/>
          <p:cNvSpPr txBox="1"/>
          <p:nvPr/>
        </p:nvSpPr>
        <p:spPr>
          <a:xfrm>
            <a:off x="12126380" y="1943100"/>
            <a:ext cx="4343866" cy="415290"/>
          </a:xfrm>
          <a:prstGeom prst="rect">
            <a:avLst/>
          </a:prstGeom>
        </p:spPr>
        <p:txBody>
          <a:bodyPr lIns="0" tIns="0" rIns="0" bIns="0" rtlCol="0" anchor="t">
            <a:spAutoFit/>
          </a:bodyPr>
          <a:lstStyle/>
          <a:p>
            <a:pPr algn="l">
              <a:lnSpc>
                <a:spcPts val="3359"/>
              </a:lnSpc>
            </a:pPr>
            <a:r>
              <a:rPr lang="fr-FR" sz="2400" b="1" dirty="0">
                <a:solidFill>
                  <a:srgbClr val="344E41"/>
                </a:solidFill>
                <a:latin typeface="Raleway Bold"/>
                <a:ea typeface="Raleway Bold"/>
                <a:cs typeface="Raleway Bold"/>
                <a:sym typeface="Raleway Bold"/>
              </a:rPr>
              <a:t>Efficient Disk Access</a:t>
            </a:r>
            <a:endParaRPr lang="en-US" sz="2400" b="1" dirty="0">
              <a:solidFill>
                <a:srgbClr val="344E41"/>
              </a:solidFill>
              <a:latin typeface="Raleway Bold"/>
              <a:ea typeface="Raleway Bold"/>
              <a:cs typeface="Raleway Bold"/>
              <a:sym typeface="Raleway Bold"/>
            </a:endParaRPr>
          </a:p>
        </p:txBody>
      </p:sp>
      <p:sp>
        <p:nvSpPr>
          <p:cNvPr id="11" name="TextBox 11"/>
          <p:cNvSpPr txBox="1"/>
          <p:nvPr/>
        </p:nvSpPr>
        <p:spPr>
          <a:xfrm>
            <a:off x="12126380" y="2786792"/>
            <a:ext cx="4485216" cy="2051908"/>
          </a:xfrm>
          <a:prstGeom prst="rect">
            <a:avLst/>
          </a:prstGeom>
        </p:spPr>
        <p:txBody>
          <a:bodyPr wrap="square" lIns="0" tIns="0" rIns="0" bIns="0" rtlCol="0" anchor="t">
            <a:spAutoFit/>
          </a:bodyPr>
          <a:lstStyle/>
          <a:p>
            <a:pPr algn="l">
              <a:lnSpc>
                <a:spcPts val="2700"/>
              </a:lnSpc>
            </a:pPr>
            <a:r>
              <a:rPr lang="en-US" dirty="0">
                <a:solidFill>
                  <a:srgbClr val="344E41"/>
                </a:solidFill>
                <a:latin typeface="Raleway"/>
                <a:ea typeface="Raleway"/>
                <a:cs typeface="Raleway"/>
                <a:sym typeface="Raleway"/>
              </a:rPr>
              <a:t>Disk access is much slower than memory access. </a:t>
            </a:r>
          </a:p>
          <a:p>
            <a:pPr algn="l">
              <a:lnSpc>
                <a:spcPts val="2700"/>
              </a:lnSpc>
            </a:pPr>
            <a:r>
              <a:rPr lang="en-US" dirty="0">
                <a:solidFill>
                  <a:srgbClr val="344E41"/>
                </a:solidFill>
                <a:latin typeface="Raleway"/>
                <a:ea typeface="Raleway"/>
                <a:cs typeface="Raleway"/>
                <a:sym typeface="Raleway"/>
              </a:rPr>
              <a:t>B-trees reduce the number of disk reads by keeping the tree height very small.</a:t>
            </a:r>
          </a:p>
          <a:p>
            <a:pPr algn="l">
              <a:lnSpc>
                <a:spcPts val="2700"/>
              </a:lnSpc>
            </a:pPr>
            <a:r>
              <a:rPr lang="en-US" b="1" dirty="0">
                <a:solidFill>
                  <a:srgbClr val="344E41"/>
                </a:solidFill>
                <a:latin typeface="Raleway"/>
                <a:ea typeface="Raleway"/>
                <a:cs typeface="Raleway"/>
                <a:sym typeface="Raleway"/>
              </a:rPr>
              <a:t>One node access can retrieve many keys at once</a:t>
            </a:r>
          </a:p>
        </p:txBody>
      </p:sp>
      <p:sp>
        <p:nvSpPr>
          <p:cNvPr id="12" name="TextBox 12"/>
          <p:cNvSpPr txBox="1"/>
          <p:nvPr/>
        </p:nvSpPr>
        <p:spPr>
          <a:xfrm>
            <a:off x="6666242" y="5566410"/>
            <a:ext cx="4343866" cy="415290"/>
          </a:xfrm>
          <a:prstGeom prst="rect">
            <a:avLst/>
          </a:prstGeom>
        </p:spPr>
        <p:txBody>
          <a:bodyPr lIns="0" tIns="0" rIns="0" bIns="0" rtlCol="0" anchor="t">
            <a:spAutoFit/>
          </a:bodyPr>
          <a:lstStyle/>
          <a:p>
            <a:pPr algn="l">
              <a:lnSpc>
                <a:spcPts val="3359"/>
              </a:lnSpc>
            </a:pPr>
            <a:r>
              <a:rPr lang="en-US" sz="2400" b="1" dirty="0">
                <a:solidFill>
                  <a:srgbClr val="344E41"/>
                </a:solidFill>
                <a:latin typeface="Raleway Bold"/>
                <a:ea typeface="Raleway Bold"/>
                <a:cs typeface="Raleway Bold"/>
                <a:sym typeface="Raleway Bold"/>
              </a:rPr>
              <a:t>Faster Searching</a:t>
            </a:r>
          </a:p>
        </p:txBody>
      </p:sp>
      <p:sp>
        <p:nvSpPr>
          <p:cNvPr id="13" name="TextBox 13"/>
          <p:cNvSpPr txBox="1"/>
          <p:nvPr/>
        </p:nvSpPr>
        <p:spPr>
          <a:xfrm>
            <a:off x="6666242" y="6438900"/>
            <a:ext cx="4343866" cy="2392386"/>
          </a:xfrm>
          <a:prstGeom prst="rect">
            <a:avLst/>
          </a:prstGeom>
        </p:spPr>
        <p:txBody>
          <a:bodyPr lIns="0" tIns="0" rIns="0" bIns="0" rtlCol="0" anchor="t">
            <a:spAutoFit/>
          </a:bodyPr>
          <a:lstStyle/>
          <a:p>
            <a:pPr algn="l">
              <a:lnSpc>
                <a:spcPts val="2700"/>
              </a:lnSpc>
            </a:pPr>
            <a:r>
              <a:rPr lang="en-US" sz="1800" dirty="0">
                <a:solidFill>
                  <a:srgbClr val="344E41"/>
                </a:solidFill>
                <a:latin typeface="Raleway"/>
                <a:ea typeface="Raleway"/>
                <a:cs typeface="Raleway"/>
                <a:sym typeface="Raleway"/>
              </a:rPr>
              <a:t>Since the height of the tree is minimized, keys are sorted within nodes. </a:t>
            </a:r>
          </a:p>
          <a:p>
            <a:pPr algn="l">
              <a:lnSpc>
                <a:spcPts val="2700"/>
              </a:lnSpc>
            </a:pPr>
            <a:r>
              <a:rPr lang="en-US" dirty="0">
                <a:solidFill>
                  <a:srgbClr val="344E41"/>
                </a:solidFill>
                <a:latin typeface="Raleway"/>
                <a:ea typeface="Raleway"/>
                <a:cs typeface="Raleway"/>
                <a:sym typeface="Raleway"/>
              </a:rPr>
              <a:t>S</a:t>
            </a:r>
            <a:r>
              <a:rPr lang="en-US" sz="1800" dirty="0">
                <a:solidFill>
                  <a:srgbClr val="344E41"/>
                </a:solidFill>
                <a:latin typeface="Raleway"/>
                <a:ea typeface="Raleway"/>
                <a:cs typeface="Raleway"/>
                <a:sym typeface="Raleway"/>
              </a:rPr>
              <a:t>earch operations take O(log n) time. </a:t>
            </a:r>
          </a:p>
          <a:p>
            <a:pPr algn="l">
              <a:lnSpc>
                <a:spcPts val="2700"/>
              </a:lnSpc>
            </a:pPr>
            <a:r>
              <a:rPr lang="en-US" sz="1800" dirty="0">
                <a:solidFill>
                  <a:srgbClr val="344E41"/>
                </a:solidFill>
                <a:latin typeface="Raleway"/>
                <a:ea typeface="Raleway"/>
                <a:cs typeface="Raleway"/>
                <a:sym typeface="Raleway"/>
              </a:rPr>
              <a:t>Even with millions of records, only a few node accesses are required.</a:t>
            </a:r>
          </a:p>
          <a:p>
            <a:pPr algn="l">
              <a:lnSpc>
                <a:spcPts val="2700"/>
              </a:lnSpc>
            </a:pPr>
            <a:r>
              <a:rPr lang="en-US" sz="1800" b="1" dirty="0">
                <a:solidFill>
                  <a:srgbClr val="344E41"/>
                </a:solidFill>
                <a:latin typeface="Raleway"/>
                <a:ea typeface="Raleway"/>
                <a:cs typeface="Raleway"/>
                <a:sym typeface="Raleway"/>
              </a:rPr>
              <a:t>This makes B-trees extremely fast for searching large amounts of data.</a:t>
            </a:r>
          </a:p>
        </p:txBody>
      </p:sp>
      <p:sp>
        <p:nvSpPr>
          <p:cNvPr id="14" name="TextBox 14"/>
          <p:cNvSpPr txBox="1"/>
          <p:nvPr/>
        </p:nvSpPr>
        <p:spPr>
          <a:xfrm>
            <a:off x="12126380" y="5581078"/>
            <a:ext cx="4343866" cy="400622"/>
          </a:xfrm>
          <a:prstGeom prst="rect">
            <a:avLst/>
          </a:prstGeom>
        </p:spPr>
        <p:txBody>
          <a:bodyPr lIns="0" tIns="0" rIns="0" bIns="0" rtlCol="0" anchor="t">
            <a:spAutoFit/>
          </a:bodyPr>
          <a:lstStyle/>
          <a:p>
            <a:pPr algn="l">
              <a:lnSpc>
                <a:spcPts val="3359"/>
              </a:lnSpc>
            </a:pPr>
            <a:r>
              <a:rPr lang="en-US" sz="2400" b="1" dirty="0">
                <a:solidFill>
                  <a:srgbClr val="344E41"/>
                </a:solidFill>
                <a:latin typeface="Raleway Bold"/>
                <a:ea typeface="Raleway Bold"/>
                <a:cs typeface="Raleway Bold"/>
                <a:sym typeface="Raleway Bold"/>
              </a:rPr>
              <a:t>Always Balanced</a:t>
            </a:r>
          </a:p>
        </p:txBody>
      </p:sp>
      <p:sp>
        <p:nvSpPr>
          <p:cNvPr id="15" name="TextBox 15"/>
          <p:cNvSpPr txBox="1"/>
          <p:nvPr/>
        </p:nvSpPr>
        <p:spPr>
          <a:xfrm>
            <a:off x="12126380" y="6362700"/>
            <a:ext cx="4343866" cy="2046138"/>
          </a:xfrm>
          <a:prstGeom prst="rect">
            <a:avLst/>
          </a:prstGeom>
        </p:spPr>
        <p:txBody>
          <a:bodyPr lIns="0" tIns="0" rIns="0" bIns="0" rtlCol="0" anchor="t">
            <a:spAutoFit/>
          </a:bodyPr>
          <a:lstStyle/>
          <a:p>
            <a:pPr algn="l">
              <a:lnSpc>
                <a:spcPts val="2700"/>
              </a:lnSpc>
            </a:pPr>
            <a:r>
              <a:rPr lang="en-US" sz="1800" dirty="0">
                <a:solidFill>
                  <a:srgbClr val="344E41"/>
                </a:solidFill>
                <a:latin typeface="Raleway"/>
                <a:ea typeface="Raleway"/>
                <a:cs typeface="Raleway"/>
                <a:sym typeface="Raleway"/>
              </a:rPr>
              <a:t>A B-tree automatically maintains balance by ensuring all leaf nodes remain at the same level.</a:t>
            </a:r>
          </a:p>
          <a:p>
            <a:pPr algn="l">
              <a:lnSpc>
                <a:spcPts val="2700"/>
              </a:lnSpc>
            </a:pPr>
            <a:r>
              <a:rPr lang="en-US" sz="1800" dirty="0">
                <a:solidFill>
                  <a:srgbClr val="344E41"/>
                </a:solidFill>
                <a:latin typeface="Raleway"/>
                <a:ea typeface="Raleway"/>
                <a:cs typeface="Raleway"/>
                <a:sym typeface="Raleway"/>
              </a:rPr>
              <a:t>During insertion and deletion, node splitting and merging prevent imbalance.</a:t>
            </a:r>
          </a:p>
          <a:p>
            <a:pPr algn="l">
              <a:lnSpc>
                <a:spcPts val="2700"/>
              </a:lnSpc>
            </a:pPr>
            <a:r>
              <a:rPr lang="en-US" sz="1800" b="1" dirty="0">
                <a:solidFill>
                  <a:srgbClr val="344E41"/>
                </a:solidFill>
                <a:latin typeface="Raleway"/>
                <a:ea typeface="Raleway"/>
                <a:cs typeface="Raleway"/>
                <a:sym typeface="Raleway"/>
              </a:rPr>
              <a:t>This guarantees consistent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3</a:t>
            </a:r>
          </a:p>
        </p:txBody>
      </p:sp>
      <p:sp>
        <p:nvSpPr>
          <p:cNvPr id="12" name="TextBox 8">
            <a:extLst>
              <a:ext uri="{FF2B5EF4-FFF2-40B4-BE49-F238E27FC236}">
                <a16:creationId xmlns:a16="http://schemas.microsoft.com/office/drawing/2014/main" id="{18F84DEC-A562-E483-141A-3DB960982B1C}"/>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First of all, what is a Balanced tree??</a:t>
            </a:r>
          </a:p>
        </p:txBody>
      </p:sp>
      <p:sp>
        <p:nvSpPr>
          <p:cNvPr id="13" name="TextBox 9">
            <a:extLst>
              <a:ext uri="{FF2B5EF4-FFF2-40B4-BE49-F238E27FC236}">
                <a16:creationId xmlns:a16="http://schemas.microsoft.com/office/drawing/2014/main" id="{CD60613E-4BA1-4835-D105-6764E0748E89}"/>
              </a:ext>
            </a:extLst>
          </p:cNvPr>
          <p:cNvSpPr txBox="1"/>
          <p:nvPr/>
        </p:nvSpPr>
        <p:spPr>
          <a:xfrm>
            <a:off x="2514600" y="2476500"/>
            <a:ext cx="10895010" cy="4062651"/>
          </a:xfrm>
          <a:prstGeom prst="rect">
            <a:avLst/>
          </a:prstGeom>
        </p:spPr>
        <p:txBody>
          <a:bodyPr lIns="0" tIns="0" rIns="0" bIns="0" rtlCol="0" anchor="t">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b="1" dirty="0">
                <a:solidFill>
                  <a:srgbClr val="344E41"/>
                </a:solidFill>
                <a:latin typeface="Raleway" pitchFamily="2" charset="0"/>
              </a:rPr>
              <a:t>Definition </a:t>
            </a:r>
            <a:r>
              <a:rPr lang="en-US" altLang="en-US" sz="2400" dirty="0">
                <a:solidFill>
                  <a:srgbClr val="344E41"/>
                </a:solidFill>
                <a:latin typeface="Raleway" pitchFamily="2" charset="0"/>
              </a:rPr>
              <a:t>: A balanced tree is a tree data structure in which the height of the tree is kept minimal by ensuring that all leaf nodes are at the same level or the difference in heights of subtrees is within a defined limit, thereby guaranteeing efficient operations.</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A balanced tree keeps its height minimal</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Prevents growth in only one direction</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Ensures efficient searching, insertion, and deletion</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Guarantees logarithmic time complexity</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Example: AVL trees, Red-Black trees, B and B+ trees</a:t>
            </a:r>
          </a:p>
        </p:txBody>
      </p:sp>
      <p:pic>
        <p:nvPicPr>
          <p:cNvPr id="1031" name="Picture 7" descr="Balanced Binary Tree in Java - GeeksforGeeks">
            <a:extLst>
              <a:ext uri="{FF2B5EF4-FFF2-40B4-BE49-F238E27FC236}">
                <a16:creationId xmlns:a16="http://schemas.microsoft.com/office/drawing/2014/main" id="{B65FB033-3248-0DAD-65CC-3E5E77119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6800" y="4180927"/>
            <a:ext cx="5324475" cy="419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8AD8350-FD8B-EC10-66C8-FB551E018D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692FAEA-1F63-8392-62AB-71E7486259C6}"/>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21ACDC3B-49DE-535F-5777-5546330CCC53}"/>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a:extLst>
              <a:ext uri="{FF2B5EF4-FFF2-40B4-BE49-F238E27FC236}">
                <a16:creationId xmlns:a16="http://schemas.microsoft.com/office/drawing/2014/main" id="{6962970B-9DDE-D91B-3B90-4C3616B1FAEE}"/>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4</a:t>
            </a:r>
          </a:p>
        </p:txBody>
      </p:sp>
      <p:sp>
        <p:nvSpPr>
          <p:cNvPr id="6" name="TextBox 6">
            <a:extLst>
              <a:ext uri="{FF2B5EF4-FFF2-40B4-BE49-F238E27FC236}">
                <a16:creationId xmlns:a16="http://schemas.microsoft.com/office/drawing/2014/main" id="{74B4772F-440E-D70E-82B4-04E96DC60518}"/>
              </a:ext>
            </a:extLst>
          </p:cNvPr>
          <p:cNvSpPr txBox="1"/>
          <p:nvPr/>
        </p:nvSpPr>
        <p:spPr>
          <a:xfrm>
            <a:off x="1028700" y="723900"/>
            <a:ext cx="6919931" cy="829073"/>
          </a:xfrm>
          <a:prstGeom prst="rect">
            <a:avLst/>
          </a:prstGeom>
        </p:spPr>
        <p:txBody>
          <a:bodyPr lIns="0" tIns="0" rIns="0" bIns="0" rtlCol="0" anchor="t">
            <a:spAutoFit/>
          </a:bodyPr>
          <a:lstStyle/>
          <a:p>
            <a:pPr algn="l">
              <a:lnSpc>
                <a:spcPts val="6719"/>
              </a:lnSpc>
            </a:pPr>
            <a:r>
              <a:rPr lang="en-US" sz="4800" dirty="0">
                <a:solidFill>
                  <a:srgbClr val="344E41"/>
                </a:solidFill>
                <a:latin typeface="Prata"/>
                <a:ea typeface="Prata"/>
                <a:cs typeface="Prata"/>
                <a:sym typeface="Prata"/>
              </a:rPr>
              <a:t>Say Hello to B trees</a:t>
            </a:r>
          </a:p>
        </p:txBody>
      </p:sp>
      <p:sp>
        <p:nvSpPr>
          <p:cNvPr id="7" name="TextBox 7">
            <a:extLst>
              <a:ext uri="{FF2B5EF4-FFF2-40B4-BE49-F238E27FC236}">
                <a16:creationId xmlns:a16="http://schemas.microsoft.com/office/drawing/2014/main" id="{2B332C90-FD41-27B0-C5C3-2E46FEB513D6}"/>
              </a:ext>
            </a:extLst>
          </p:cNvPr>
          <p:cNvSpPr txBox="1"/>
          <p:nvPr/>
        </p:nvSpPr>
        <p:spPr>
          <a:xfrm>
            <a:off x="2362200" y="1714500"/>
            <a:ext cx="8229600" cy="3185487"/>
          </a:xfrm>
          <a:prstGeom prst="rect">
            <a:avLst/>
          </a:prstGeom>
        </p:spPr>
        <p:txBody>
          <a:bodyPr wrap="square" lIns="0" tIns="0" rIns="0" bIns="0" rtlCol="0" anchor="t">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300" b="1" dirty="0">
                <a:solidFill>
                  <a:srgbClr val="344E41"/>
                </a:solidFill>
                <a:latin typeface="Raleway" pitchFamily="2" charset="0"/>
              </a:rPr>
              <a:t>Definition </a:t>
            </a:r>
            <a:r>
              <a:rPr lang="en-US" altLang="en-US" sz="2300" dirty="0">
                <a:solidFill>
                  <a:srgbClr val="344E41"/>
                </a:solidFill>
                <a:latin typeface="Raleway" pitchFamily="2" charset="0"/>
              </a:rPr>
              <a:t>: A B-tree is a self-balancing multi-way search tree in which each node can contain multiple keys and children, all keys are maintained in sorted order, and all leaf nodes appear at the same level.</a:t>
            </a:r>
          </a:p>
          <a:p>
            <a:pPr marL="342900" lvl="0" indent="-342900" eaLnBrk="0" fontAlgn="base" hangingPunct="0">
              <a:spcBef>
                <a:spcPct val="0"/>
              </a:spcBef>
              <a:spcAft>
                <a:spcPct val="0"/>
              </a:spcAft>
              <a:buFont typeface="Arial" panose="020B0604020202020204" pitchFamily="34" charset="0"/>
              <a:buChar char="•"/>
            </a:pPr>
            <a:r>
              <a:rPr lang="en-US" altLang="en-US" sz="2300" dirty="0">
                <a:solidFill>
                  <a:srgbClr val="344E41"/>
                </a:solidFill>
                <a:latin typeface="Raleway" pitchFamily="2" charset="0"/>
              </a:rPr>
              <a:t>Found by Rudolf Bayer.. So now we know B is Bayer</a:t>
            </a:r>
            <a:endParaRPr lang="en-US" altLang="en-US" sz="2300" b="1" dirty="0">
              <a:solidFill>
                <a:srgbClr val="344E41"/>
              </a:solidFill>
              <a:latin typeface="Raleway"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300" dirty="0">
                <a:solidFill>
                  <a:srgbClr val="344E41"/>
                </a:solidFill>
                <a:latin typeface="Raleway" pitchFamily="2" charset="0"/>
              </a:rPr>
              <a:t>Designed for large data storage</a:t>
            </a:r>
          </a:p>
          <a:p>
            <a:pPr marL="342900" lvl="0" indent="-342900" eaLnBrk="0" fontAlgn="base" hangingPunct="0">
              <a:spcBef>
                <a:spcPct val="0"/>
              </a:spcBef>
              <a:spcAft>
                <a:spcPct val="0"/>
              </a:spcAft>
              <a:buFont typeface="Arial" panose="020B0604020202020204" pitchFamily="34" charset="0"/>
              <a:buChar char="•"/>
            </a:pPr>
            <a:r>
              <a:rPr lang="en-US" altLang="en-US" sz="2300" b="1" dirty="0">
                <a:solidFill>
                  <a:srgbClr val="344E41"/>
                </a:solidFill>
                <a:latin typeface="Raleway" pitchFamily="2" charset="0"/>
              </a:rPr>
              <a:t>Keys are stored in a sorted way.</a:t>
            </a:r>
          </a:p>
          <a:p>
            <a:pPr marL="342900" lvl="0" indent="-342900" eaLnBrk="0" fontAlgn="base" hangingPunct="0">
              <a:spcBef>
                <a:spcPct val="0"/>
              </a:spcBef>
              <a:spcAft>
                <a:spcPct val="0"/>
              </a:spcAft>
              <a:buFont typeface="Arial" panose="020B0604020202020204" pitchFamily="34" charset="0"/>
              <a:buChar char="•"/>
            </a:pPr>
            <a:r>
              <a:rPr lang="en-US" altLang="en-US" sz="2300" dirty="0">
                <a:solidFill>
                  <a:srgbClr val="344E41"/>
                </a:solidFill>
                <a:latin typeface="Raleway" pitchFamily="2" charset="0"/>
              </a:rPr>
              <a:t>all operations take </a:t>
            </a:r>
            <a:r>
              <a:rPr lang="en-US" altLang="en-US" sz="2300" b="1" dirty="0">
                <a:solidFill>
                  <a:srgbClr val="344E41"/>
                </a:solidFill>
                <a:latin typeface="Raleway" pitchFamily="2" charset="0"/>
              </a:rPr>
              <a:t>O(log n) </a:t>
            </a:r>
            <a:r>
              <a:rPr lang="en-US" altLang="en-US" sz="2300" dirty="0">
                <a:solidFill>
                  <a:srgbClr val="344E41"/>
                </a:solidFill>
                <a:latin typeface="Raleway" pitchFamily="2" charset="0"/>
              </a:rPr>
              <a:t>time</a:t>
            </a:r>
          </a:p>
          <a:p>
            <a:pPr marL="342900" lvl="0" indent="-342900" eaLnBrk="0" fontAlgn="base" hangingPunct="0">
              <a:spcBef>
                <a:spcPct val="0"/>
              </a:spcBef>
              <a:spcAft>
                <a:spcPct val="0"/>
              </a:spcAft>
              <a:buFont typeface="Arial" panose="020B0604020202020204" pitchFamily="34" charset="0"/>
              <a:buChar char="•"/>
            </a:pPr>
            <a:endParaRPr lang="en-US" altLang="en-US" sz="2300" dirty="0">
              <a:solidFill>
                <a:srgbClr val="344E41"/>
              </a:solidFill>
              <a:latin typeface="Raleway" pitchFamily="2" charset="0"/>
            </a:endParaRPr>
          </a:p>
        </p:txBody>
      </p:sp>
      <p:sp>
        <p:nvSpPr>
          <p:cNvPr id="9" name="TextBox 7">
            <a:extLst>
              <a:ext uri="{FF2B5EF4-FFF2-40B4-BE49-F238E27FC236}">
                <a16:creationId xmlns:a16="http://schemas.microsoft.com/office/drawing/2014/main" id="{20B8975D-6780-223F-1973-77F7E853AB29}"/>
              </a:ext>
            </a:extLst>
          </p:cNvPr>
          <p:cNvSpPr txBox="1"/>
          <p:nvPr/>
        </p:nvSpPr>
        <p:spPr>
          <a:xfrm>
            <a:off x="2362200" y="4934783"/>
            <a:ext cx="15697200" cy="4247317"/>
          </a:xfrm>
          <a:prstGeom prst="rect">
            <a:avLst/>
          </a:prstGeom>
        </p:spPr>
        <p:txBody>
          <a:bodyPr wrap="square" lIns="0" tIns="0" rIns="0" bIns="0" rtlCol="0" anchor="t">
            <a:spAutoFit/>
          </a:bodyPr>
          <a:lstStyle/>
          <a:p>
            <a:pPr lvl="0" eaLnBrk="0" fontAlgn="base" hangingPunct="0">
              <a:spcBef>
                <a:spcPct val="0"/>
              </a:spcBef>
              <a:spcAft>
                <a:spcPct val="0"/>
              </a:spcAft>
            </a:pPr>
            <a:r>
              <a:rPr lang="en-US" altLang="en-US" sz="2300" b="1" dirty="0">
                <a:solidFill>
                  <a:srgbClr val="344E41"/>
                </a:solidFill>
                <a:latin typeface="Raleway" pitchFamily="2" charset="0"/>
              </a:rPr>
              <a:t>What are Multi-way search tree?</a:t>
            </a:r>
          </a:p>
          <a:p>
            <a:pPr lvl="0" eaLnBrk="0" fontAlgn="base" hangingPunct="0">
              <a:spcBef>
                <a:spcPct val="0"/>
              </a:spcBef>
              <a:spcAft>
                <a:spcPct val="0"/>
              </a:spcAft>
            </a:pPr>
            <a:r>
              <a:rPr lang="en-US" altLang="en-US" sz="2300" b="1" dirty="0">
                <a:solidFill>
                  <a:srgbClr val="344E41"/>
                </a:solidFill>
                <a:latin typeface="Raleway" pitchFamily="2" charset="0"/>
              </a:rPr>
              <a:t> </a:t>
            </a:r>
            <a:r>
              <a:rPr lang="en-US" altLang="en-US" sz="2300" dirty="0">
                <a:solidFill>
                  <a:srgbClr val="344E41"/>
                </a:solidFill>
                <a:latin typeface="Raleway" pitchFamily="2" charset="0"/>
              </a:rPr>
              <a:t>A multi-way search tree is a search tree in which each node can have more than two children and can store multiple keys.</a:t>
            </a:r>
          </a:p>
          <a:p>
            <a:pPr marL="342900" lvl="0" indent="-342900" eaLnBrk="0" fontAlgn="base" hangingPunct="0">
              <a:spcBef>
                <a:spcPct val="0"/>
              </a:spcBef>
              <a:spcAft>
                <a:spcPct val="0"/>
              </a:spcAft>
              <a:buFont typeface="Arial" panose="020B0604020202020204" pitchFamily="34" charset="0"/>
              <a:buChar char="•"/>
            </a:pPr>
            <a:endParaRPr lang="en-US" altLang="en-US" sz="2300" dirty="0">
              <a:solidFill>
                <a:srgbClr val="344E41"/>
              </a:solidFill>
              <a:latin typeface="Raleway"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300" b="1" dirty="0">
                <a:solidFill>
                  <a:srgbClr val="344E41"/>
                </a:solidFill>
                <a:latin typeface="Raleway" pitchFamily="2" charset="0"/>
              </a:rPr>
              <a:t>“Multi-way” 							“Search” </a:t>
            </a:r>
          </a:p>
          <a:p>
            <a:pPr lvl="0" eaLnBrk="0" fontAlgn="base" hangingPunct="0">
              <a:spcBef>
                <a:spcPct val="0"/>
              </a:spcBef>
              <a:spcAft>
                <a:spcPct val="0"/>
              </a:spcAft>
            </a:pPr>
            <a:r>
              <a:rPr lang="en-US" altLang="en-US" sz="2300" dirty="0">
                <a:solidFill>
                  <a:srgbClr val="344E41"/>
                </a:solidFill>
                <a:latin typeface="Raleway" pitchFamily="2" charset="0"/>
              </a:rPr>
              <a:t>	Binary tree → max 2 children					Keys are stored in sorted order</a:t>
            </a:r>
          </a:p>
          <a:p>
            <a:pPr lvl="0" eaLnBrk="0" fontAlgn="base" hangingPunct="0">
              <a:spcBef>
                <a:spcPct val="0"/>
              </a:spcBef>
              <a:spcAft>
                <a:spcPct val="0"/>
              </a:spcAft>
            </a:pPr>
            <a:r>
              <a:rPr lang="en-US" altLang="en-US" sz="2300" dirty="0">
                <a:solidFill>
                  <a:srgbClr val="344E41"/>
                </a:solidFill>
                <a:latin typeface="Raleway" pitchFamily="2" charset="0"/>
              </a:rPr>
              <a:t>	Multi-way tree → more than 2 children 				Tree follows search rules</a:t>
            </a:r>
          </a:p>
          <a:p>
            <a:pPr lvl="0" eaLnBrk="0" fontAlgn="base" hangingPunct="0">
              <a:spcBef>
                <a:spcPct val="0"/>
              </a:spcBef>
              <a:spcAft>
                <a:spcPct val="0"/>
              </a:spcAft>
            </a:pPr>
            <a:r>
              <a:rPr lang="en-US" altLang="en-US" sz="2300" dirty="0">
                <a:solidFill>
                  <a:srgbClr val="344E41"/>
                </a:solidFill>
                <a:latin typeface="Raleway" pitchFamily="2" charset="0"/>
              </a:rPr>
              <a:t>										 Efficient searching like BST, but with 												 many branches</a:t>
            </a:r>
          </a:p>
          <a:p>
            <a:pPr lvl="0" eaLnBrk="0" fontAlgn="base" hangingPunct="0">
              <a:spcBef>
                <a:spcPct val="0"/>
              </a:spcBef>
              <a:spcAft>
                <a:spcPct val="0"/>
              </a:spcAft>
            </a:pPr>
            <a:r>
              <a:rPr lang="en-US" altLang="en-US" sz="2300" b="1" dirty="0">
                <a:solidFill>
                  <a:srgbClr val="344E41"/>
                </a:solidFill>
                <a:latin typeface="Raleway" pitchFamily="2" charset="0"/>
              </a:rPr>
              <a:t>What are the keys, then?? </a:t>
            </a:r>
          </a:p>
          <a:p>
            <a:pPr lvl="0" eaLnBrk="0" fontAlgn="base" hangingPunct="0">
              <a:spcBef>
                <a:spcPct val="0"/>
              </a:spcBef>
              <a:spcAft>
                <a:spcPct val="0"/>
              </a:spcAft>
            </a:pPr>
            <a:r>
              <a:rPr lang="en-US" altLang="en-US" sz="2300" dirty="0">
                <a:solidFill>
                  <a:srgbClr val="344E41"/>
                </a:solidFill>
                <a:latin typeface="Raleway" pitchFamily="2" charset="0"/>
              </a:rPr>
              <a:t>- Keys are the values stored in tree nodes that are used to compare, search, and decide the path to follow in the tree.</a:t>
            </a:r>
          </a:p>
        </p:txBody>
      </p:sp>
      <p:pic>
        <p:nvPicPr>
          <p:cNvPr id="2051" name="Picture 3" descr="B Trees">
            <a:extLst>
              <a:ext uri="{FF2B5EF4-FFF2-40B4-BE49-F238E27FC236}">
                <a16:creationId xmlns:a16="http://schemas.microsoft.com/office/drawing/2014/main" id="{BF82E721-E90C-67B5-EA44-434EFB0369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727"/>
          <a:stretch>
            <a:fillRect/>
          </a:stretch>
        </p:blipFill>
        <p:spPr bwMode="auto">
          <a:xfrm>
            <a:off x="10439400" y="1905835"/>
            <a:ext cx="7011723" cy="2724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734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8BC57A9E-95FF-8AE4-65C5-A02F7B3C997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5E0213-C565-5E72-C24F-1FE6CE424307}"/>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82DC9E19-4A78-D3CA-A75E-065C07A5344D}"/>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E63D48AF-B986-61CB-067A-9EBB3D697866}"/>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5</a:t>
            </a:r>
          </a:p>
        </p:txBody>
      </p:sp>
      <p:sp>
        <p:nvSpPr>
          <p:cNvPr id="12" name="TextBox 8">
            <a:extLst>
              <a:ext uri="{FF2B5EF4-FFF2-40B4-BE49-F238E27FC236}">
                <a16:creationId xmlns:a16="http://schemas.microsoft.com/office/drawing/2014/main" id="{F5805720-B3D4-4608-95AC-5DAD2E0F3A9F}"/>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What is order of a B trees</a:t>
            </a:r>
          </a:p>
        </p:txBody>
      </p:sp>
      <p:sp>
        <p:nvSpPr>
          <p:cNvPr id="13" name="TextBox 9">
            <a:extLst>
              <a:ext uri="{FF2B5EF4-FFF2-40B4-BE49-F238E27FC236}">
                <a16:creationId xmlns:a16="http://schemas.microsoft.com/office/drawing/2014/main" id="{466402D8-5097-34ED-1CB7-6F753E46B3C2}"/>
              </a:ext>
            </a:extLst>
          </p:cNvPr>
          <p:cNvSpPr txBox="1"/>
          <p:nvPr/>
        </p:nvSpPr>
        <p:spPr>
          <a:xfrm>
            <a:off x="2514600" y="2476500"/>
            <a:ext cx="14401800" cy="6647974"/>
          </a:xfrm>
          <a:prstGeom prst="rect">
            <a:avLst/>
          </a:prstGeom>
        </p:spPr>
        <p:txBody>
          <a:bodyPr wrap="square" lIns="0" tIns="0" rIns="0" bIns="0" rtlCol="0" anchor="t">
            <a:spAutoFit/>
          </a:bodyPr>
          <a:lstStyle/>
          <a:p>
            <a:pPr lvl="0" algn="just" eaLnBrk="0" fontAlgn="base" hangingPunct="0">
              <a:spcBef>
                <a:spcPct val="0"/>
              </a:spcBef>
              <a:spcAft>
                <a:spcPct val="0"/>
              </a:spcAft>
            </a:pPr>
            <a:r>
              <a:rPr lang="en-US" altLang="en-US" sz="2400" dirty="0">
                <a:solidFill>
                  <a:srgbClr val="344E41"/>
                </a:solidFill>
                <a:latin typeface="Raleway" pitchFamily="2" charset="0"/>
              </a:rPr>
              <a:t>The order of a B-tree, denoted by m, specifies how many children a node can have at most. It controls how wide the tree can grow.</a:t>
            </a:r>
          </a:p>
          <a:p>
            <a:pPr lvl="0" algn="just" eaLnBrk="0" fontAlgn="base" hangingPunct="0">
              <a:spcBef>
                <a:spcPct val="0"/>
              </a:spcBef>
              <a:spcAft>
                <a:spcPct val="0"/>
              </a:spcAft>
            </a:pPr>
            <a:r>
              <a:rPr lang="en-US" altLang="en-US" sz="2400" b="1" dirty="0">
                <a:solidFill>
                  <a:srgbClr val="344E41"/>
                </a:solidFill>
                <a:latin typeface="Raleway" pitchFamily="2" charset="0"/>
              </a:rPr>
              <a:t> Higher order → wider tree → smaller height.</a:t>
            </a:r>
          </a:p>
          <a:p>
            <a:pPr lvl="0" algn="just" eaLnBrk="0" fontAlgn="base" hangingPunct="0">
              <a:spcBef>
                <a:spcPct val="0"/>
              </a:spcBef>
              <a:spcAft>
                <a:spcPct val="0"/>
              </a:spcAft>
            </a:pPr>
            <a:endParaRPr lang="en-US" altLang="en-US" sz="2400" b="1" dirty="0">
              <a:solidFill>
                <a:srgbClr val="344E41"/>
              </a:solidFill>
              <a:latin typeface="Raleway" pitchFamily="2" charset="0"/>
            </a:endParaRPr>
          </a:p>
          <a:p>
            <a:pPr lvl="0" algn="just" eaLnBrk="0" fontAlgn="base" hangingPunct="0">
              <a:spcBef>
                <a:spcPct val="0"/>
              </a:spcBef>
              <a:spcAft>
                <a:spcPct val="0"/>
              </a:spcAft>
            </a:pPr>
            <a:r>
              <a:rPr lang="en-US" altLang="en-US" sz="2400" dirty="0">
                <a:solidFill>
                  <a:srgbClr val="344E41"/>
                </a:solidFill>
                <a:latin typeface="Raleway" pitchFamily="2" charset="0"/>
              </a:rPr>
              <a:t>Maximum children per node = </a:t>
            </a:r>
            <a:r>
              <a:rPr lang="en-US" altLang="en-US" sz="2400" b="1" dirty="0">
                <a:solidFill>
                  <a:srgbClr val="344E41"/>
                </a:solidFill>
                <a:latin typeface="Raleway" pitchFamily="2" charset="0"/>
              </a:rPr>
              <a:t>m</a:t>
            </a:r>
          </a:p>
          <a:p>
            <a:pPr lvl="0" algn="just" eaLnBrk="0" fontAlgn="base" hangingPunct="0">
              <a:spcBef>
                <a:spcPct val="0"/>
              </a:spcBef>
              <a:spcAft>
                <a:spcPct val="0"/>
              </a:spcAft>
            </a:pPr>
            <a:r>
              <a:rPr lang="en-US" altLang="en-US" sz="2400" dirty="0">
                <a:solidFill>
                  <a:srgbClr val="344E41"/>
                </a:solidFill>
                <a:latin typeface="Raleway" pitchFamily="2" charset="0"/>
              </a:rPr>
              <a:t>Maximum keys per node = </a:t>
            </a:r>
            <a:r>
              <a:rPr lang="en-US" altLang="en-US" sz="2400" b="1" dirty="0">
                <a:solidFill>
                  <a:srgbClr val="344E41"/>
                </a:solidFill>
                <a:latin typeface="Raleway" pitchFamily="2" charset="0"/>
              </a:rPr>
              <a:t>m − 1</a:t>
            </a:r>
          </a:p>
          <a:p>
            <a:pPr lvl="0" algn="just" eaLnBrk="0" fontAlgn="base" hangingPunct="0">
              <a:spcBef>
                <a:spcPct val="0"/>
              </a:spcBef>
              <a:spcAft>
                <a:spcPct val="0"/>
              </a:spcAft>
            </a:pPr>
            <a:r>
              <a:rPr lang="en-US" altLang="en-US" sz="2400" dirty="0">
                <a:solidFill>
                  <a:srgbClr val="344E41"/>
                </a:solidFill>
                <a:latin typeface="Raleway" pitchFamily="2" charset="0"/>
              </a:rPr>
              <a:t>Minimum children per node = </a:t>
            </a:r>
            <a:r>
              <a:rPr lang="en-US" altLang="en-US" sz="2400" b="1" dirty="0">
                <a:solidFill>
                  <a:srgbClr val="344E41"/>
                </a:solidFill>
                <a:latin typeface="Raleway" pitchFamily="2" charset="0"/>
              </a:rPr>
              <a:t>ceil ⌈m / 2⌉</a:t>
            </a:r>
          </a:p>
          <a:p>
            <a:pPr lvl="0" algn="just" eaLnBrk="0" fontAlgn="base" hangingPunct="0">
              <a:spcBef>
                <a:spcPct val="0"/>
              </a:spcBef>
              <a:spcAft>
                <a:spcPct val="0"/>
              </a:spcAft>
            </a:pPr>
            <a:r>
              <a:rPr lang="en-US" altLang="en-US" sz="2400" dirty="0">
                <a:solidFill>
                  <a:srgbClr val="344E41"/>
                </a:solidFill>
                <a:latin typeface="Raleway" pitchFamily="2" charset="0"/>
              </a:rPr>
              <a:t>Minimum keys per node = </a:t>
            </a:r>
            <a:r>
              <a:rPr lang="en-US" altLang="en-US" sz="2400" b="1" dirty="0">
                <a:solidFill>
                  <a:srgbClr val="344E41"/>
                </a:solidFill>
                <a:latin typeface="Raleway" pitchFamily="2" charset="0"/>
              </a:rPr>
              <a:t>ceil ⌈m / 2⌉ − 1</a:t>
            </a:r>
          </a:p>
          <a:p>
            <a:pPr lvl="0" algn="just" eaLnBrk="0" fontAlgn="base" hangingPunct="0">
              <a:spcBef>
                <a:spcPct val="0"/>
              </a:spcBef>
              <a:spcAft>
                <a:spcPct val="0"/>
              </a:spcAft>
            </a:pPr>
            <a:endParaRPr lang="en-US" altLang="en-US" sz="2400" b="1" dirty="0">
              <a:solidFill>
                <a:srgbClr val="344E41"/>
              </a:solidFill>
              <a:latin typeface="Raleway" pitchFamily="2" charset="0"/>
            </a:endParaRPr>
          </a:p>
          <a:p>
            <a:pPr lvl="0" algn="just" eaLnBrk="0" fontAlgn="base" hangingPunct="0">
              <a:spcBef>
                <a:spcPct val="0"/>
              </a:spcBef>
              <a:spcAft>
                <a:spcPct val="0"/>
              </a:spcAft>
            </a:pPr>
            <a:r>
              <a:rPr lang="en-US" altLang="en-US" sz="2400" b="1" dirty="0">
                <a:solidFill>
                  <a:srgbClr val="344E41"/>
                </a:solidFill>
                <a:latin typeface="Raleway" pitchFamily="2" charset="0"/>
              </a:rPr>
              <a:t>Example :</a:t>
            </a:r>
          </a:p>
          <a:p>
            <a:pPr lvl="0" algn="just" eaLnBrk="0" fontAlgn="base" hangingPunct="0">
              <a:spcBef>
                <a:spcPct val="0"/>
              </a:spcBef>
              <a:spcAft>
                <a:spcPct val="0"/>
              </a:spcAft>
            </a:pPr>
            <a:r>
              <a:rPr lang="en-US" sz="2400" dirty="0">
                <a:solidFill>
                  <a:srgbClr val="344E41"/>
                </a:solidFill>
                <a:latin typeface="Raleway" pitchFamily="2" charset="0"/>
              </a:rPr>
              <a:t>Order = 3 → max children = 3</a:t>
            </a:r>
          </a:p>
          <a:p>
            <a:pPr lvl="0" algn="just" eaLnBrk="0" fontAlgn="base" hangingPunct="0">
              <a:spcBef>
                <a:spcPct val="0"/>
              </a:spcBef>
              <a:spcAft>
                <a:spcPct val="0"/>
              </a:spcAft>
            </a:pPr>
            <a:r>
              <a:rPr lang="en-US" altLang="en-US" sz="2400" b="1" dirty="0">
                <a:solidFill>
                  <a:srgbClr val="344E41"/>
                </a:solidFill>
                <a:latin typeface="Raleway" pitchFamily="2" charset="0"/>
              </a:rPr>
              <a:t>	            </a:t>
            </a:r>
            <a:r>
              <a:rPr lang="en-US" altLang="en-US" sz="2400" dirty="0">
                <a:solidFill>
                  <a:srgbClr val="344E41"/>
                </a:solidFill>
                <a:latin typeface="Raleway" pitchFamily="2" charset="0"/>
              </a:rPr>
              <a:t>max keys = 2</a:t>
            </a:r>
          </a:p>
          <a:p>
            <a:pPr lvl="0" algn="just" eaLnBrk="0" fontAlgn="base" hangingPunct="0">
              <a:spcBef>
                <a:spcPct val="0"/>
              </a:spcBef>
              <a:spcAft>
                <a:spcPct val="0"/>
              </a:spcAft>
            </a:pPr>
            <a:r>
              <a:rPr lang="en-US" altLang="en-US" sz="2400" b="1" dirty="0">
                <a:solidFill>
                  <a:srgbClr val="344E41"/>
                </a:solidFill>
                <a:latin typeface="Raleway" pitchFamily="2" charset="0"/>
              </a:rPr>
              <a:t>	            </a:t>
            </a:r>
            <a:r>
              <a:rPr lang="en-US" altLang="en-US" sz="2400" dirty="0">
                <a:solidFill>
                  <a:srgbClr val="344E41"/>
                </a:solidFill>
                <a:latin typeface="Raleway" pitchFamily="2" charset="0"/>
              </a:rPr>
              <a:t>min children = 2</a:t>
            </a:r>
          </a:p>
          <a:p>
            <a:pPr lvl="0" algn="just" eaLnBrk="0" fontAlgn="base" hangingPunct="0">
              <a:spcBef>
                <a:spcPct val="0"/>
              </a:spcBef>
              <a:spcAft>
                <a:spcPct val="0"/>
              </a:spcAft>
            </a:pPr>
            <a:r>
              <a:rPr lang="en-US" altLang="en-US" sz="2400" b="1" dirty="0">
                <a:solidFill>
                  <a:srgbClr val="344E41"/>
                </a:solidFill>
                <a:latin typeface="Raleway" pitchFamily="2" charset="0"/>
              </a:rPr>
              <a:t>	            </a:t>
            </a:r>
            <a:r>
              <a:rPr lang="en-US" altLang="en-US" sz="2400" dirty="0">
                <a:solidFill>
                  <a:srgbClr val="344E41"/>
                </a:solidFill>
                <a:latin typeface="Raleway" pitchFamily="2" charset="0"/>
              </a:rPr>
              <a:t>min keys = 1</a:t>
            </a:r>
          </a:p>
          <a:p>
            <a:pPr lvl="0" algn="just" eaLnBrk="0" fontAlgn="base" hangingPunct="0">
              <a:spcBef>
                <a:spcPct val="0"/>
              </a:spcBef>
              <a:spcAft>
                <a:spcPct val="0"/>
              </a:spcAft>
            </a:pPr>
            <a:endParaRPr lang="en-US" altLang="en-US" sz="2400" b="1" dirty="0">
              <a:solidFill>
                <a:srgbClr val="344E41"/>
              </a:solidFill>
              <a:latin typeface="Raleway" pitchFamily="2" charset="0"/>
            </a:endParaRPr>
          </a:p>
          <a:p>
            <a:pPr algn="just" eaLnBrk="0" fontAlgn="base" hangingPunct="0">
              <a:spcBef>
                <a:spcPct val="0"/>
              </a:spcBef>
              <a:spcAft>
                <a:spcPct val="0"/>
              </a:spcAft>
            </a:pPr>
            <a:r>
              <a:rPr lang="en-US" altLang="en-US" sz="2400" dirty="0">
                <a:solidFill>
                  <a:srgbClr val="344E41"/>
                </a:solidFill>
                <a:latin typeface="Raleway" pitchFamily="2" charset="0"/>
              </a:rPr>
              <a:t>To maintain balance, each internal node must have a minimum number of children. This prevents the tree from becoming sparse or skewed</a:t>
            </a:r>
            <a:endParaRPr lang="en-US" altLang="en-US" sz="2400" b="1" dirty="0">
              <a:solidFill>
                <a:srgbClr val="344E41"/>
              </a:solidFill>
              <a:latin typeface="Raleway" pitchFamily="2" charset="0"/>
            </a:endParaRPr>
          </a:p>
          <a:p>
            <a:pPr lvl="0" algn="just" eaLnBrk="0" fontAlgn="base" hangingPunct="0">
              <a:spcBef>
                <a:spcPct val="0"/>
              </a:spcBef>
              <a:spcAft>
                <a:spcPct val="0"/>
              </a:spcAft>
            </a:pPr>
            <a:endParaRPr lang="en-US" altLang="en-US" sz="2400" b="1" dirty="0">
              <a:solidFill>
                <a:srgbClr val="344E41"/>
              </a:solidFill>
              <a:latin typeface="Raleway" pitchFamily="2" charset="0"/>
            </a:endParaRPr>
          </a:p>
        </p:txBody>
      </p:sp>
    </p:spTree>
    <p:extLst>
      <p:ext uri="{BB962C8B-B14F-4D97-AF65-F5344CB8AC3E}">
        <p14:creationId xmlns:p14="http://schemas.microsoft.com/office/powerpoint/2010/main" val="843743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043745D7-49B6-B5A6-336C-5C8F5EDE784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E9887E-3042-A6A2-2D4A-EAA449261BCB}"/>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E8E261BD-986D-E4D3-23D5-E9D0593A52D4}"/>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1CE46CC1-85D0-F357-A22E-CDA90E20810E}"/>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6</a:t>
            </a:r>
          </a:p>
        </p:txBody>
      </p:sp>
      <p:sp>
        <p:nvSpPr>
          <p:cNvPr id="12" name="TextBox 8">
            <a:extLst>
              <a:ext uri="{FF2B5EF4-FFF2-40B4-BE49-F238E27FC236}">
                <a16:creationId xmlns:a16="http://schemas.microsoft.com/office/drawing/2014/main" id="{953931BA-8940-1EA9-132B-FFB3B5746073}"/>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Keys as Ranges</a:t>
            </a:r>
          </a:p>
        </p:txBody>
      </p:sp>
      <p:sp>
        <p:nvSpPr>
          <p:cNvPr id="13" name="TextBox 9">
            <a:extLst>
              <a:ext uri="{FF2B5EF4-FFF2-40B4-BE49-F238E27FC236}">
                <a16:creationId xmlns:a16="http://schemas.microsoft.com/office/drawing/2014/main" id="{F0C486CF-C65D-A468-59F1-E3A9BAB9DD2F}"/>
              </a:ext>
            </a:extLst>
          </p:cNvPr>
          <p:cNvSpPr txBox="1"/>
          <p:nvPr/>
        </p:nvSpPr>
        <p:spPr>
          <a:xfrm>
            <a:off x="2514600" y="2663904"/>
            <a:ext cx="11577336" cy="4431983"/>
          </a:xfrm>
          <a:prstGeom prst="rect">
            <a:avLst/>
          </a:prstGeom>
        </p:spPr>
        <p:txBody>
          <a:bodyPr wrap="square" lIns="0" tIns="0" rIns="0" bIns="0" rtlCol="0" anchor="t">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Keys divide values into ranges.</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Each range maps to one child.</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Keys are stored in sorted order.</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Guide search and insertion.</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In multi-way search trees, keys do not just store values; they divide the entire set of possible values into intervals.</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Each key acts like a boundary that separates smaller values from larger ones.</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Every range created by the keys corresponds to exactly one child node.</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When a value is searched for or inserted, the tree checks which range the value falls into and follows that child.</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p:txBody>
      </p:sp>
    </p:spTree>
    <p:extLst>
      <p:ext uri="{BB962C8B-B14F-4D97-AF65-F5344CB8AC3E}">
        <p14:creationId xmlns:p14="http://schemas.microsoft.com/office/powerpoint/2010/main" val="2542016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BC29FC47-BA2B-D4F0-5D08-844A9DC55C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F140BE4-2855-45C1-5D6B-2BDA019EFE1E}"/>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2047C82F-97E3-4586-D9B7-810867AF25FC}"/>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B01175D9-4401-9C0D-DDD3-E59E0F35E81B}"/>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7</a:t>
            </a:r>
          </a:p>
        </p:txBody>
      </p:sp>
      <p:sp>
        <p:nvSpPr>
          <p:cNvPr id="12" name="TextBox 8">
            <a:extLst>
              <a:ext uri="{FF2B5EF4-FFF2-40B4-BE49-F238E27FC236}">
                <a16:creationId xmlns:a16="http://schemas.microsoft.com/office/drawing/2014/main" id="{36A70DE6-5001-9705-F810-D572EE875B24}"/>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Keys as Ranges</a:t>
            </a:r>
          </a:p>
        </p:txBody>
      </p:sp>
      <p:sp>
        <p:nvSpPr>
          <p:cNvPr id="13" name="TextBox 9">
            <a:extLst>
              <a:ext uri="{FF2B5EF4-FFF2-40B4-BE49-F238E27FC236}">
                <a16:creationId xmlns:a16="http://schemas.microsoft.com/office/drawing/2014/main" id="{8A6F870B-14DE-89FC-4119-316BD6B3EE36}"/>
              </a:ext>
            </a:extLst>
          </p:cNvPr>
          <p:cNvSpPr txBox="1"/>
          <p:nvPr/>
        </p:nvSpPr>
        <p:spPr>
          <a:xfrm>
            <a:off x="2514600" y="2247900"/>
            <a:ext cx="11577336" cy="7386638"/>
          </a:xfrm>
          <a:prstGeom prst="rect">
            <a:avLst/>
          </a:prstGeom>
        </p:spPr>
        <p:txBody>
          <a:bodyPr wrap="square" lIns="0" tIns="0" rIns="0" bIns="0" rtlCol="0" anchor="t">
            <a:spAutoFit/>
          </a:bodyPr>
          <a:lstStyle/>
          <a:p>
            <a:pPr lvl="0" algn="just" eaLnBrk="0" fontAlgn="base" hangingPunct="0">
              <a:spcBef>
                <a:spcPct val="0"/>
              </a:spcBef>
              <a:spcAft>
                <a:spcPct val="0"/>
              </a:spcAft>
            </a:pPr>
            <a:r>
              <a:rPr lang="en-US" altLang="en-US" sz="2400" b="1" dirty="0">
                <a:solidFill>
                  <a:srgbClr val="344E41"/>
                </a:solidFill>
                <a:latin typeface="Raleway" pitchFamily="2" charset="0"/>
              </a:rPr>
              <a:t>Method 1: Left-exclusive, Right-inclusive </a:t>
            </a:r>
            <a:r>
              <a:rPr lang="en-US" altLang="en-US" sz="2400" dirty="0">
                <a:solidFill>
                  <a:srgbClr val="344E41"/>
                </a:solidFill>
                <a:latin typeface="Raleway" pitchFamily="2" charset="0"/>
              </a:rPr>
              <a:t>(Most commonly used)</a:t>
            </a:r>
          </a:p>
          <a:p>
            <a:pPr marL="342900" lvl="0" indent="-342900" algn="just" eaLnBrk="0" fontAlgn="base" hangingPunct="0">
              <a:spcBef>
                <a:spcPct val="0"/>
              </a:spcBef>
              <a:spcAft>
                <a:spcPct val="0"/>
              </a:spcAft>
              <a:buFont typeface="Arial" panose="020B0604020202020204" pitchFamily="34" charset="0"/>
              <a:buChar char="•"/>
            </a:pPr>
            <a:r>
              <a:rPr lang="en-US" altLang="en-US" sz="2400" b="1" dirty="0">
                <a:solidFill>
                  <a:srgbClr val="344E41"/>
                </a:solidFill>
                <a:latin typeface="Raleway" pitchFamily="2" charset="0"/>
              </a:rPr>
              <a:t>Rule</a:t>
            </a:r>
            <a:r>
              <a:rPr lang="en-US" altLang="en-US" sz="2400" dirty="0">
                <a:solidFill>
                  <a:srgbClr val="344E41"/>
                </a:solidFill>
                <a:latin typeface="Raleway" pitchFamily="2" charset="0"/>
              </a:rPr>
              <a:t>: Left side: &lt; key</a:t>
            </a:r>
          </a:p>
          <a:p>
            <a:pPr lvl="0" algn="just" eaLnBrk="0" fontAlgn="base" hangingPunct="0">
              <a:spcBef>
                <a:spcPct val="0"/>
              </a:spcBef>
              <a:spcAft>
                <a:spcPct val="0"/>
              </a:spcAft>
            </a:pPr>
            <a:r>
              <a:rPr lang="en-US" altLang="en-US" sz="2400" dirty="0">
                <a:solidFill>
                  <a:srgbClr val="344E41"/>
                </a:solidFill>
                <a:latin typeface="Raleway" pitchFamily="2" charset="0"/>
              </a:rPr>
              <a:t>	   Right side: ≥ key</a:t>
            </a:r>
          </a:p>
          <a:p>
            <a:pPr lvl="0" algn="just" eaLnBrk="0" fontAlgn="base" hangingPunct="0">
              <a:spcBef>
                <a:spcPct val="0"/>
              </a:spcBef>
              <a:spcAft>
                <a:spcPct val="0"/>
              </a:spcAft>
            </a:pPr>
            <a:endParaRPr lang="en-US" altLang="en-US" sz="2400" dirty="0">
              <a:solidFill>
                <a:srgbClr val="344E41"/>
              </a:solidFill>
              <a:latin typeface="Raleway" pitchFamily="2" charset="0"/>
            </a:endParaRPr>
          </a:p>
          <a:p>
            <a:pPr lvl="0" algn="just" eaLnBrk="0" fontAlgn="base" hangingPunct="0">
              <a:spcBef>
                <a:spcPct val="0"/>
              </a:spcBef>
              <a:spcAft>
                <a:spcPct val="0"/>
              </a:spcAft>
            </a:pPr>
            <a:r>
              <a:rPr lang="en-US" altLang="en-US" sz="2400" b="1" dirty="0">
                <a:solidFill>
                  <a:srgbClr val="344E41"/>
                </a:solidFill>
                <a:latin typeface="Raleway" pitchFamily="2" charset="0"/>
              </a:rPr>
              <a:t>Example </a:t>
            </a:r>
            <a:r>
              <a:rPr lang="en-US" altLang="en-US" sz="2400" dirty="0">
                <a:solidFill>
                  <a:srgbClr val="344E41"/>
                </a:solidFill>
                <a:latin typeface="Raleway" pitchFamily="2" charset="0"/>
              </a:rPr>
              <a:t>: [30 | 50]</a:t>
            </a:r>
          </a:p>
          <a:p>
            <a:pPr lvl="0" algn="just" eaLnBrk="0" fontAlgn="base" hangingPunct="0">
              <a:spcBef>
                <a:spcPct val="0"/>
              </a:spcBef>
              <a:spcAft>
                <a:spcPct val="0"/>
              </a:spcAft>
            </a:pPr>
            <a:r>
              <a:rPr lang="en-US" altLang="en-US" sz="2400" dirty="0">
                <a:solidFill>
                  <a:srgbClr val="344E41"/>
                </a:solidFill>
                <a:latin typeface="Raleway" pitchFamily="2" charset="0"/>
              </a:rPr>
              <a:t>Child	Range</a:t>
            </a:r>
          </a:p>
          <a:p>
            <a:pPr lvl="0" algn="just" eaLnBrk="0" fontAlgn="base" hangingPunct="0">
              <a:spcBef>
                <a:spcPct val="0"/>
              </a:spcBef>
              <a:spcAft>
                <a:spcPct val="0"/>
              </a:spcAft>
            </a:pPr>
            <a:r>
              <a:rPr lang="en-US" altLang="en-US" sz="2400" dirty="0">
                <a:solidFill>
                  <a:srgbClr val="344E41"/>
                </a:solidFill>
                <a:latin typeface="Raleway" pitchFamily="2" charset="0"/>
              </a:rPr>
              <a:t>C0	values &lt; 30</a:t>
            </a:r>
          </a:p>
          <a:p>
            <a:pPr lvl="0" algn="just" eaLnBrk="0" fontAlgn="base" hangingPunct="0">
              <a:spcBef>
                <a:spcPct val="0"/>
              </a:spcBef>
              <a:spcAft>
                <a:spcPct val="0"/>
              </a:spcAft>
            </a:pPr>
            <a:r>
              <a:rPr lang="en-US" altLang="en-US" sz="2400" dirty="0">
                <a:solidFill>
                  <a:srgbClr val="344E41"/>
                </a:solidFill>
                <a:latin typeface="Raleway" pitchFamily="2" charset="0"/>
              </a:rPr>
              <a:t>C1	30 ≤ values &lt; 50</a:t>
            </a:r>
          </a:p>
          <a:p>
            <a:pPr lvl="0" algn="just" eaLnBrk="0" fontAlgn="base" hangingPunct="0">
              <a:spcBef>
                <a:spcPct val="0"/>
              </a:spcBef>
              <a:spcAft>
                <a:spcPct val="0"/>
              </a:spcAft>
            </a:pPr>
            <a:r>
              <a:rPr lang="en-US" altLang="en-US" sz="2400" dirty="0">
                <a:solidFill>
                  <a:srgbClr val="344E41"/>
                </a:solidFill>
                <a:latin typeface="Raleway" pitchFamily="2" charset="0"/>
              </a:rPr>
              <a:t>C2	values ≥ 50</a:t>
            </a:r>
          </a:p>
          <a:p>
            <a:pPr lvl="0" algn="just" eaLnBrk="0" fontAlgn="base" hangingPunct="0">
              <a:spcBef>
                <a:spcPct val="0"/>
              </a:spcBef>
              <a:spcAft>
                <a:spcPct val="0"/>
              </a:spcAft>
            </a:pPr>
            <a:endParaRPr lang="en-US" altLang="en-US" sz="2400" dirty="0">
              <a:solidFill>
                <a:srgbClr val="344E41"/>
              </a:solidFill>
              <a:latin typeface="Raleway" pitchFamily="2" charset="0"/>
            </a:endParaRPr>
          </a:p>
          <a:p>
            <a:pPr lvl="0" algn="just" eaLnBrk="0" fontAlgn="base" hangingPunct="0">
              <a:spcBef>
                <a:spcPct val="0"/>
              </a:spcBef>
              <a:spcAft>
                <a:spcPct val="0"/>
              </a:spcAft>
            </a:pPr>
            <a:r>
              <a:rPr lang="en-US" altLang="en-US" sz="2400" b="1" dirty="0">
                <a:solidFill>
                  <a:srgbClr val="344E41"/>
                </a:solidFill>
                <a:latin typeface="Raleway" pitchFamily="2" charset="0"/>
              </a:rPr>
              <a:t>Method 2: Left-inclusive, Right-exclusive </a:t>
            </a:r>
            <a:r>
              <a:rPr lang="en-US" altLang="en-US" sz="2400" dirty="0">
                <a:solidFill>
                  <a:srgbClr val="344E41"/>
                </a:solidFill>
                <a:latin typeface="Raleway" pitchFamily="2" charset="0"/>
              </a:rPr>
              <a:t>(Also valid if used consistently)</a:t>
            </a:r>
          </a:p>
          <a:p>
            <a:pPr marL="342900" lvl="0" indent="-342900" algn="just" eaLnBrk="0" fontAlgn="base" hangingPunct="0">
              <a:spcBef>
                <a:spcPct val="0"/>
              </a:spcBef>
              <a:spcAft>
                <a:spcPct val="0"/>
              </a:spcAft>
              <a:buFont typeface="Arial" panose="020B0604020202020204" pitchFamily="34" charset="0"/>
              <a:buChar char="•"/>
            </a:pPr>
            <a:r>
              <a:rPr lang="en-US" altLang="en-US" sz="2400" b="1" dirty="0">
                <a:solidFill>
                  <a:srgbClr val="344E41"/>
                </a:solidFill>
                <a:latin typeface="Raleway" pitchFamily="2" charset="0"/>
              </a:rPr>
              <a:t>Rule</a:t>
            </a:r>
            <a:r>
              <a:rPr lang="en-US" altLang="en-US" sz="2400" dirty="0">
                <a:solidFill>
                  <a:srgbClr val="344E41"/>
                </a:solidFill>
                <a:latin typeface="Raleway" pitchFamily="2" charset="0"/>
              </a:rPr>
              <a:t>: Left side: ≤ key</a:t>
            </a:r>
          </a:p>
          <a:p>
            <a:pPr lvl="0" algn="just" eaLnBrk="0" fontAlgn="base" hangingPunct="0">
              <a:spcBef>
                <a:spcPct val="0"/>
              </a:spcBef>
              <a:spcAft>
                <a:spcPct val="0"/>
              </a:spcAft>
            </a:pPr>
            <a:r>
              <a:rPr lang="en-US" altLang="en-US" sz="2400" dirty="0">
                <a:solidFill>
                  <a:srgbClr val="344E41"/>
                </a:solidFill>
                <a:latin typeface="Raleway" pitchFamily="2" charset="0"/>
              </a:rPr>
              <a:t>	   Right side: &gt; key</a:t>
            </a:r>
          </a:p>
          <a:p>
            <a:pPr lvl="0" algn="just" eaLnBrk="0" fontAlgn="base" hangingPunct="0">
              <a:spcBef>
                <a:spcPct val="0"/>
              </a:spcBef>
              <a:spcAft>
                <a:spcPct val="0"/>
              </a:spcAft>
            </a:pPr>
            <a:endParaRPr lang="en-US" altLang="en-US" sz="2400" dirty="0">
              <a:solidFill>
                <a:srgbClr val="344E41"/>
              </a:solidFill>
              <a:latin typeface="Raleway" pitchFamily="2" charset="0"/>
            </a:endParaRPr>
          </a:p>
          <a:p>
            <a:pPr lvl="0" algn="just" eaLnBrk="0" fontAlgn="base" hangingPunct="0">
              <a:spcBef>
                <a:spcPct val="0"/>
              </a:spcBef>
              <a:spcAft>
                <a:spcPct val="0"/>
              </a:spcAft>
            </a:pPr>
            <a:r>
              <a:rPr lang="en-US" altLang="en-US" sz="2400" b="1" dirty="0">
                <a:solidFill>
                  <a:srgbClr val="344E41"/>
                </a:solidFill>
                <a:latin typeface="Raleway" pitchFamily="2" charset="0"/>
              </a:rPr>
              <a:t>Example</a:t>
            </a:r>
            <a:r>
              <a:rPr lang="en-US" altLang="en-US" sz="2400" dirty="0">
                <a:solidFill>
                  <a:srgbClr val="344E41"/>
                </a:solidFill>
                <a:latin typeface="Raleway" pitchFamily="2" charset="0"/>
              </a:rPr>
              <a:t>: [30 | 50]</a:t>
            </a:r>
          </a:p>
          <a:p>
            <a:pPr lvl="0" algn="just" eaLnBrk="0" fontAlgn="base" hangingPunct="0">
              <a:spcBef>
                <a:spcPct val="0"/>
              </a:spcBef>
              <a:spcAft>
                <a:spcPct val="0"/>
              </a:spcAft>
            </a:pPr>
            <a:r>
              <a:rPr lang="en-US" altLang="en-US" sz="2400" dirty="0">
                <a:solidFill>
                  <a:srgbClr val="344E41"/>
                </a:solidFill>
                <a:latin typeface="Raleway" pitchFamily="2" charset="0"/>
              </a:rPr>
              <a:t>Child	Range</a:t>
            </a:r>
          </a:p>
          <a:p>
            <a:pPr lvl="0" algn="just" eaLnBrk="0" fontAlgn="base" hangingPunct="0">
              <a:spcBef>
                <a:spcPct val="0"/>
              </a:spcBef>
              <a:spcAft>
                <a:spcPct val="0"/>
              </a:spcAft>
            </a:pPr>
            <a:r>
              <a:rPr lang="en-US" altLang="en-US" sz="2400" dirty="0">
                <a:solidFill>
                  <a:srgbClr val="344E41"/>
                </a:solidFill>
                <a:latin typeface="Raleway" pitchFamily="2" charset="0"/>
              </a:rPr>
              <a:t>C0	values ≤ 30</a:t>
            </a:r>
          </a:p>
          <a:p>
            <a:pPr lvl="0" algn="just" eaLnBrk="0" fontAlgn="base" hangingPunct="0">
              <a:spcBef>
                <a:spcPct val="0"/>
              </a:spcBef>
              <a:spcAft>
                <a:spcPct val="0"/>
              </a:spcAft>
            </a:pPr>
            <a:r>
              <a:rPr lang="en-US" altLang="en-US" sz="2400" dirty="0">
                <a:solidFill>
                  <a:srgbClr val="344E41"/>
                </a:solidFill>
                <a:latin typeface="Raleway" pitchFamily="2" charset="0"/>
              </a:rPr>
              <a:t>C1	30 &lt; values ≤ 50</a:t>
            </a:r>
          </a:p>
          <a:p>
            <a:pPr lvl="0" algn="just" eaLnBrk="0" fontAlgn="base" hangingPunct="0">
              <a:spcBef>
                <a:spcPct val="0"/>
              </a:spcBef>
              <a:spcAft>
                <a:spcPct val="0"/>
              </a:spcAft>
            </a:pPr>
            <a:r>
              <a:rPr lang="en-US" altLang="en-US" sz="2400" dirty="0">
                <a:solidFill>
                  <a:srgbClr val="344E41"/>
                </a:solidFill>
                <a:latin typeface="Raleway" pitchFamily="2" charset="0"/>
              </a:rPr>
              <a:t>C2	values &gt; 50</a:t>
            </a:r>
          </a:p>
          <a:p>
            <a:pPr lvl="0" algn="just" eaLnBrk="0" fontAlgn="base" hangingPunct="0">
              <a:spcBef>
                <a:spcPct val="0"/>
              </a:spcBef>
              <a:spcAft>
                <a:spcPct val="0"/>
              </a:spcAft>
            </a:pPr>
            <a:endParaRPr lang="en-US" altLang="en-US" sz="2400" dirty="0">
              <a:solidFill>
                <a:srgbClr val="344E41"/>
              </a:solidFill>
              <a:latin typeface="Raleway" pitchFamily="2" charset="0"/>
            </a:endParaRPr>
          </a:p>
        </p:txBody>
      </p:sp>
    </p:spTree>
    <p:extLst>
      <p:ext uri="{BB962C8B-B14F-4D97-AF65-F5344CB8AC3E}">
        <p14:creationId xmlns:p14="http://schemas.microsoft.com/office/powerpoint/2010/main" val="70222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4BE861A0-7CF8-9D67-D7B8-BB32DB77304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74DAC9-EA99-4A16-C001-3FF081BE7BFB}"/>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58A37603-3F51-8346-3247-52BE223C8B14}"/>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C251E8EF-8FCB-07F2-5C8D-F78CC18FD57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8</a:t>
            </a:r>
          </a:p>
        </p:txBody>
      </p:sp>
      <p:sp>
        <p:nvSpPr>
          <p:cNvPr id="12" name="TextBox 8">
            <a:extLst>
              <a:ext uri="{FF2B5EF4-FFF2-40B4-BE49-F238E27FC236}">
                <a16:creationId xmlns:a16="http://schemas.microsoft.com/office/drawing/2014/main" id="{4EA99ABD-6F2B-0AAD-B9DD-E81D5764BD39}"/>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So, now what are B+ trees??</a:t>
            </a:r>
          </a:p>
        </p:txBody>
      </p:sp>
      <p:sp>
        <p:nvSpPr>
          <p:cNvPr id="13" name="TextBox 9">
            <a:extLst>
              <a:ext uri="{FF2B5EF4-FFF2-40B4-BE49-F238E27FC236}">
                <a16:creationId xmlns:a16="http://schemas.microsoft.com/office/drawing/2014/main" id="{3E404B67-DD82-9BE0-5D87-FF414710DE6E}"/>
              </a:ext>
            </a:extLst>
          </p:cNvPr>
          <p:cNvSpPr txBox="1"/>
          <p:nvPr/>
        </p:nvSpPr>
        <p:spPr>
          <a:xfrm>
            <a:off x="2514600" y="2476500"/>
            <a:ext cx="10895010" cy="4062651"/>
          </a:xfrm>
          <a:prstGeom prst="rect">
            <a:avLst/>
          </a:prstGeom>
        </p:spPr>
        <p:txBody>
          <a:bodyPr lIns="0" tIns="0" rIns="0" bIns="0" rtlCol="0" anchor="t">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b="1" dirty="0">
                <a:solidFill>
                  <a:srgbClr val="344E41"/>
                </a:solidFill>
                <a:latin typeface="Raleway" pitchFamily="2" charset="0"/>
              </a:rPr>
              <a:t>Definition</a:t>
            </a:r>
            <a:r>
              <a:rPr lang="en-US" altLang="en-US" sz="2400" dirty="0">
                <a:solidFill>
                  <a:srgbClr val="344E41"/>
                </a:solidFill>
                <a:latin typeface="Raleway" pitchFamily="2" charset="0"/>
              </a:rPr>
              <a:t>: A B+ tree is an advanced form of B-tree in which all actual data records are stored only in the leaf nodes, internal nodes act as index structures, and leaf nodes are linked to support efficient sequential and range access.</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Multi-way tree</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Internal nodes → only keys</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Leaf nodes → actual data</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Leaves are linked</a:t>
            </a:r>
          </a:p>
          <a:p>
            <a:pPr lvl="0" algn="just" eaLnBrk="0" fontAlgn="base" hangingPunct="0">
              <a:spcBef>
                <a:spcPct val="0"/>
              </a:spcBef>
              <a:spcAft>
                <a:spcPct val="0"/>
              </a:spcAft>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Example : </a:t>
            </a:r>
          </a:p>
        </p:txBody>
      </p:sp>
      <p:pic>
        <p:nvPicPr>
          <p:cNvPr id="6146" name="Picture 2" descr="CSci 340: B+-trees">
            <a:extLst>
              <a:ext uri="{FF2B5EF4-FFF2-40B4-BE49-F238E27FC236}">
                <a16:creationId xmlns:a16="http://schemas.microsoft.com/office/drawing/2014/main" id="{E47DCA08-E811-BDFF-85CB-6EA0978A6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018" y="4762500"/>
            <a:ext cx="8229600" cy="3999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3320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B5140E24-5BA1-B9C4-3651-2B7F574374B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F6B90E-B25F-A12A-1405-417BBE43BC68}"/>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C5243E58-96C5-8FBD-214C-1F8631DEF6DF}"/>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1667C5AB-FF18-3D3F-83CF-F8FDDF873DEF}"/>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a:ea typeface="Raleway"/>
                <a:cs typeface="Raleway"/>
                <a:sym typeface="Raleway"/>
              </a:rPr>
              <a:t>9</a:t>
            </a:r>
          </a:p>
        </p:txBody>
      </p:sp>
      <p:sp>
        <p:nvSpPr>
          <p:cNvPr id="12" name="TextBox 8">
            <a:extLst>
              <a:ext uri="{FF2B5EF4-FFF2-40B4-BE49-F238E27FC236}">
                <a16:creationId xmlns:a16="http://schemas.microsoft.com/office/drawing/2014/main" id="{1C43E764-0D2F-EB74-DD6B-96ADD1C2A239}"/>
              </a:ext>
            </a:extLst>
          </p:cNvPr>
          <p:cNvSpPr txBox="1"/>
          <p:nvPr/>
        </p:nvSpPr>
        <p:spPr>
          <a:xfrm>
            <a:off x="1028700" y="1104900"/>
            <a:ext cx="9944100" cy="813684"/>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Advantages of B+ trees over B trees</a:t>
            </a:r>
          </a:p>
        </p:txBody>
      </p:sp>
      <p:sp>
        <p:nvSpPr>
          <p:cNvPr id="13" name="TextBox 9">
            <a:extLst>
              <a:ext uri="{FF2B5EF4-FFF2-40B4-BE49-F238E27FC236}">
                <a16:creationId xmlns:a16="http://schemas.microsoft.com/office/drawing/2014/main" id="{C2E6F2FD-2A4C-8216-08C4-7AFB90F0F7BC}"/>
              </a:ext>
            </a:extLst>
          </p:cNvPr>
          <p:cNvSpPr txBox="1"/>
          <p:nvPr/>
        </p:nvSpPr>
        <p:spPr>
          <a:xfrm>
            <a:off x="2514600" y="2569845"/>
            <a:ext cx="11577336" cy="5909310"/>
          </a:xfrm>
          <a:prstGeom prst="rect">
            <a:avLst/>
          </a:prstGeom>
        </p:spPr>
        <p:txBody>
          <a:bodyPr wrap="square" lIns="0" tIns="0" rIns="0" bIns="0" rtlCol="0" anchor="t">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In B+ trees, </a:t>
            </a:r>
            <a:r>
              <a:rPr lang="en-US" altLang="en-US" sz="2400" b="1" dirty="0">
                <a:solidFill>
                  <a:srgbClr val="344E41"/>
                </a:solidFill>
                <a:latin typeface="Raleway" pitchFamily="2" charset="0"/>
              </a:rPr>
              <a:t>actual data records are stored only at the leaf level</a:t>
            </a:r>
            <a:r>
              <a:rPr lang="en-US" altLang="en-US" sz="2400" dirty="0">
                <a:solidFill>
                  <a:srgbClr val="344E41"/>
                </a:solidFill>
                <a:latin typeface="Raleway" pitchFamily="2" charset="0"/>
              </a:rPr>
              <a:t>. </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Internal nodes contain only keys used for navigation.</a:t>
            </a:r>
          </a:p>
          <a:p>
            <a:pPr lvl="0" algn="just" eaLnBrk="0" fontAlgn="base" hangingPunct="0">
              <a:spcBef>
                <a:spcPct val="0"/>
              </a:spcBef>
              <a:spcAft>
                <a:spcPct val="0"/>
              </a:spcAft>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Since all data is at the leaf level, </a:t>
            </a:r>
            <a:r>
              <a:rPr lang="en-US" altLang="en-US" sz="2400" b="1" dirty="0">
                <a:solidFill>
                  <a:srgbClr val="344E41"/>
                </a:solidFill>
                <a:latin typeface="Raleway" pitchFamily="2" charset="0"/>
              </a:rPr>
              <a:t>every search follows a uniform path length</a:t>
            </a:r>
            <a:r>
              <a:rPr lang="en-US" altLang="en-US" sz="2400" dirty="0">
                <a:solidFill>
                  <a:srgbClr val="344E41"/>
                </a:solidFill>
                <a:latin typeface="Raleway" pitchFamily="2" charset="0"/>
              </a:rPr>
              <a:t>. This leads to predictable and often faster searches compared to B-trees, where data may be found at different levels.</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Leaf nodes in a B+ tree are </a:t>
            </a:r>
            <a:r>
              <a:rPr lang="en-US" altLang="en-US" sz="2400" b="1" dirty="0">
                <a:solidFill>
                  <a:srgbClr val="344E41"/>
                </a:solidFill>
                <a:latin typeface="Raleway" pitchFamily="2" charset="0"/>
              </a:rPr>
              <a:t>linked together in sorted order</a:t>
            </a:r>
            <a:r>
              <a:rPr lang="en-US" altLang="en-US" sz="2400" dirty="0">
                <a:solidFill>
                  <a:srgbClr val="344E41"/>
                </a:solidFill>
                <a:latin typeface="Raleway" pitchFamily="2" charset="0"/>
              </a:rPr>
              <a:t>. Once the starting key is found, all values in the range can be accessed sequentially without traversing the tree again.</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Because leaf nodes are </a:t>
            </a:r>
            <a:r>
              <a:rPr lang="en-US" altLang="en-US" sz="2400" b="1" dirty="0">
                <a:solidFill>
                  <a:srgbClr val="344E41"/>
                </a:solidFill>
                <a:latin typeface="Raleway" pitchFamily="2" charset="0"/>
              </a:rPr>
              <a:t>linked like a linked list, </a:t>
            </a:r>
            <a:r>
              <a:rPr lang="en-US" altLang="en-US" sz="2400" dirty="0">
                <a:solidFill>
                  <a:srgbClr val="344E41"/>
                </a:solidFill>
                <a:latin typeface="Raleway" pitchFamily="2" charset="0"/>
              </a:rPr>
              <a:t>B+ trees support efficient </a:t>
            </a:r>
            <a:r>
              <a:rPr lang="en-US" altLang="en-US" sz="2400" b="1" dirty="0">
                <a:solidFill>
                  <a:srgbClr val="344E41"/>
                </a:solidFill>
                <a:latin typeface="Raleway" pitchFamily="2" charset="0"/>
              </a:rPr>
              <a:t>sequential traversal of records</a:t>
            </a:r>
            <a:r>
              <a:rPr lang="en-US" altLang="en-US" sz="2400" dirty="0">
                <a:solidFill>
                  <a:srgbClr val="344E41"/>
                </a:solidFill>
                <a:latin typeface="Raleway" pitchFamily="2" charset="0"/>
              </a:rPr>
              <a:t>.</a:t>
            </a:r>
          </a:p>
          <a:p>
            <a:pPr marL="342900" lvl="0" indent="-342900" algn="just" eaLnBrk="0" fontAlgn="base" hangingPunct="0">
              <a:spcBef>
                <a:spcPct val="0"/>
              </a:spcBef>
              <a:spcAft>
                <a:spcPct val="0"/>
              </a:spcAft>
              <a:buFont typeface="Arial" panose="020B0604020202020204" pitchFamily="34" charset="0"/>
              <a:buChar char="•"/>
            </a:pPr>
            <a:endParaRPr lang="en-US" altLang="en-US" sz="2400" dirty="0">
              <a:solidFill>
                <a:srgbClr val="344E41"/>
              </a:solidFill>
              <a:latin typeface="Raleway" pitchFamily="2"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B+ trees are optimized for disk-based storage. Since internal nodes contain only keys, more keys fit into a disk block, reducing the number of disk accesses.</a:t>
            </a:r>
          </a:p>
        </p:txBody>
      </p:sp>
    </p:spTree>
    <p:extLst>
      <p:ext uri="{BB962C8B-B14F-4D97-AF65-F5344CB8AC3E}">
        <p14:creationId xmlns:p14="http://schemas.microsoft.com/office/powerpoint/2010/main" val="354435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152CC752-AA1C-F1DC-7413-E86CAC90AE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6E3703-A78F-4FC1-4BB9-D73C75DAE29D}"/>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B7E8CB47-247E-4C05-0BB8-7CC7CE72203E}"/>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56095030-1E5A-316C-CB92-5FDD93DD8425}"/>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10</a:t>
            </a:r>
          </a:p>
        </p:txBody>
      </p:sp>
      <p:sp>
        <p:nvSpPr>
          <p:cNvPr id="12" name="TextBox 8">
            <a:extLst>
              <a:ext uri="{FF2B5EF4-FFF2-40B4-BE49-F238E27FC236}">
                <a16:creationId xmlns:a16="http://schemas.microsoft.com/office/drawing/2014/main" id="{B3386037-7AAD-B9FC-1019-0647993973E8}"/>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Inserting elements in a B tree</a:t>
            </a:r>
          </a:p>
        </p:txBody>
      </p:sp>
      <p:sp>
        <p:nvSpPr>
          <p:cNvPr id="13" name="TextBox 9">
            <a:extLst>
              <a:ext uri="{FF2B5EF4-FFF2-40B4-BE49-F238E27FC236}">
                <a16:creationId xmlns:a16="http://schemas.microsoft.com/office/drawing/2014/main" id="{475437A3-D922-8ED6-D8A1-EBD5FD835FAA}"/>
              </a:ext>
            </a:extLst>
          </p:cNvPr>
          <p:cNvSpPr txBox="1"/>
          <p:nvPr/>
        </p:nvSpPr>
        <p:spPr>
          <a:xfrm>
            <a:off x="2514600" y="2569845"/>
            <a:ext cx="7086600" cy="4921091"/>
          </a:xfrm>
          <a:prstGeom prst="rect">
            <a:avLst/>
          </a:prstGeom>
        </p:spPr>
        <p:txBody>
          <a:bodyPr wrap="square" lIns="0" tIns="0" rIns="0" bIns="0" rtlCol="0" anchor="t">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Insertion is always done at the leaf level. </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Keys are inserted in sorted order. </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Range-based traversal is used. </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Overflow leads to node splitting. </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Tree remains balanced automatically.</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B-trees do not use balance factors or rotations like AVL trees. Instead, balance is maintained through splitting and promotion, ensuring that all leaf nodes remain at the same level.</a:t>
            </a:r>
          </a:p>
        </p:txBody>
      </p:sp>
      <p:sp>
        <p:nvSpPr>
          <p:cNvPr id="4" name="Rectangle 1">
            <a:extLst>
              <a:ext uri="{FF2B5EF4-FFF2-40B4-BE49-F238E27FC236}">
                <a16:creationId xmlns:a16="http://schemas.microsoft.com/office/drawing/2014/main" id="{3A895624-F5EC-705F-13E7-49F29FA9EA3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4" name="Picture 2" descr="B-Tree : Searching and Insertion">
            <a:extLst>
              <a:ext uri="{FF2B5EF4-FFF2-40B4-BE49-F238E27FC236}">
                <a16:creationId xmlns:a16="http://schemas.microsoft.com/office/drawing/2014/main" id="{B622C484-FB96-4DD5-0A53-23609342B5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9800" y="1956833"/>
            <a:ext cx="8221945" cy="5475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123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CA18390D-64E8-53EC-A7B6-8BB3B30E878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09C812A-FBBE-9880-CD0B-5D47A19EF6D4}"/>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B714F9C6-55AB-8BEB-6568-35B52E3C0DC3}"/>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3271A934-93B4-B49B-F8CD-FA2E6A6D966A}"/>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11</a:t>
            </a:r>
          </a:p>
        </p:txBody>
      </p:sp>
      <p:sp>
        <p:nvSpPr>
          <p:cNvPr id="12" name="TextBox 8">
            <a:extLst>
              <a:ext uri="{FF2B5EF4-FFF2-40B4-BE49-F238E27FC236}">
                <a16:creationId xmlns:a16="http://schemas.microsoft.com/office/drawing/2014/main" id="{26D75ED6-144F-36DB-3E1C-58D3898C7B88}"/>
              </a:ext>
            </a:extLst>
          </p:cNvPr>
          <p:cNvSpPr txBox="1"/>
          <p:nvPr/>
        </p:nvSpPr>
        <p:spPr>
          <a:xfrm>
            <a:off x="1028700" y="1104900"/>
            <a:ext cx="16230600" cy="813684"/>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Example: insertion of 30, 10, 50, 90, 70 with order 3</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CCE422BA-46E2-4E7B-5744-DD01E6E3C079}"/>
                  </a:ext>
                </a:extLst>
              </p14:cNvPr>
              <p14:cNvContentPartPr/>
              <p14:nvPr/>
            </p14:nvContentPartPr>
            <p14:xfrm>
              <a:off x="14020680" y="2864760"/>
              <a:ext cx="360" cy="360"/>
            </p14:xfrm>
          </p:contentPart>
        </mc:Choice>
        <mc:Fallback xmlns="">
          <p:pic>
            <p:nvPicPr>
              <p:cNvPr id="20" name="Ink 19">
                <a:extLst>
                  <a:ext uri="{FF2B5EF4-FFF2-40B4-BE49-F238E27FC236}">
                    <a16:creationId xmlns:a16="http://schemas.microsoft.com/office/drawing/2014/main" id="{CCE422BA-46E2-4E7B-5744-DD01E6E3C079}"/>
                  </a:ext>
                </a:extLst>
              </p:cNvPr>
              <p:cNvPicPr/>
              <p:nvPr/>
            </p:nvPicPr>
            <p:blipFill>
              <a:blip r:embed="rId3"/>
              <a:stretch>
                <a:fillRect/>
              </a:stretch>
            </p:blipFill>
            <p:spPr>
              <a:xfrm>
                <a:off x="14014560" y="2858640"/>
                <a:ext cx="12600" cy="12600"/>
              </a:xfrm>
              <a:prstGeom prst="rect">
                <a:avLst/>
              </a:prstGeom>
            </p:spPr>
          </p:pic>
        </mc:Fallback>
      </mc:AlternateContent>
    </p:spTree>
    <p:extLst>
      <p:ext uri="{BB962C8B-B14F-4D97-AF65-F5344CB8AC3E}">
        <p14:creationId xmlns:p14="http://schemas.microsoft.com/office/powerpoint/2010/main" val="146014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D664A074-9F80-9ACA-64FB-8D1F6BE748C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C8E0E9-06FB-5D62-BDF6-6D387CDA0BC5}"/>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B663241C-992F-995A-4445-67672AE83A43}"/>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E10B63E5-BDEF-8DD7-BA83-BE5DFB8BA13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12</a:t>
            </a:r>
          </a:p>
        </p:txBody>
      </p:sp>
      <p:sp>
        <p:nvSpPr>
          <p:cNvPr id="12" name="TextBox 8">
            <a:extLst>
              <a:ext uri="{FF2B5EF4-FFF2-40B4-BE49-F238E27FC236}">
                <a16:creationId xmlns:a16="http://schemas.microsoft.com/office/drawing/2014/main" id="{0C1E271E-4A67-E36C-2131-EB6FA904B34A}"/>
              </a:ext>
            </a:extLst>
          </p:cNvPr>
          <p:cNvSpPr txBox="1"/>
          <p:nvPr/>
        </p:nvSpPr>
        <p:spPr>
          <a:xfrm>
            <a:off x="1028700" y="1104900"/>
            <a:ext cx="16230600" cy="798295"/>
          </a:xfrm>
          <a:prstGeom prst="rect">
            <a:avLst/>
          </a:prstGeom>
        </p:spPr>
        <p:txBody>
          <a:bodyPr wrap="square" lIns="0" tIns="0" rIns="0" bIns="0" rtlCol="0" anchor="t">
            <a:spAutoFit/>
          </a:bodyPr>
          <a:lstStyle/>
          <a:p>
            <a:pPr algn="l">
              <a:lnSpc>
                <a:spcPts val="6719"/>
              </a:lnSpc>
            </a:pPr>
            <a:r>
              <a:rPr lang="en-US" sz="4000" dirty="0">
                <a:solidFill>
                  <a:srgbClr val="344E41"/>
                </a:solidFill>
                <a:latin typeface="Prata"/>
                <a:ea typeface="Prata"/>
                <a:cs typeface="Prata"/>
                <a:sym typeface="Prata"/>
              </a:rPr>
              <a:t>Example: insertion of 5, 3, 21, 9, 1, 13, 2, 7, 10, 12, 4, 8 with order 4</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87354674-06A4-FF73-C807-C9ABDE179F82}"/>
                  </a:ext>
                </a:extLst>
              </p14:cNvPr>
              <p14:cNvContentPartPr/>
              <p14:nvPr/>
            </p14:nvContentPartPr>
            <p14:xfrm>
              <a:off x="14020680" y="2864760"/>
              <a:ext cx="360" cy="360"/>
            </p14:xfrm>
          </p:contentPart>
        </mc:Choice>
        <mc:Fallback xmlns="">
          <p:pic>
            <p:nvPicPr>
              <p:cNvPr id="20" name="Ink 19">
                <a:extLst>
                  <a:ext uri="{FF2B5EF4-FFF2-40B4-BE49-F238E27FC236}">
                    <a16:creationId xmlns:a16="http://schemas.microsoft.com/office/drawing/2014/main" id="{87354674-06A4-FF73-C807-C9ABDE179F82}"/>
                  </a:ext>
                </a:extLst>
              </p:cNvPr>
              <p:cNvPicPr/>
              <p:nvPr/>
            </p:nvPicPr>
            <p:blipFill>
              <a:blip r:embed="rId3"/>
              <a:stretch>
                <a:fillRect/>
              </a:stretch>
            </p:blipFill>
            <p:spPr>
              <a:xfrm>
                <a:off x="14014560" y="2858640"/>
                <a:ext cx="12600" cy="12600"/>
              </a:xfrm>
              <a:prstGeom prst="rect">
                <a:avLst/>
              </a:prstGeom>
            </p:spPr>
          </p:pic>
        </mc:Fallback>
      </mc:AlternateContent>
    </p:spTree>
    <p:extLst>
      <p:ext uri="{BB962C8B-B14F-4D97-AF65-F5344CB8AC3E}">
        <p14:creationId xmlns:p14="http://schemas.microsoft.com/office/powerpoint/2010/main" val="2053417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815548A-2D69-EFFE-7E6F-3FAAE4FB1A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E1E4E5-38CA-23B2-9EC3-72183E39BE5E}"/>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DE415712-7AA8-74AE-C6CA-B8041BCA580F}"/>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5250B2E-16AB-8B11-2678-30993F846D72}"/>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13</a:t>
            </a:r>
          </a:p>
        </p:txBody>
      </p:sp>
      <p:sp>
        <p:nvSpPr>
          <p:cNvPr id="12" name="TextBox 8">
            <a:extLst>
              <a:ext uri="{FF2B5EF4-FFF2-40B4-BE49-F238E27FC236}">
                <a16:creationId xmlns:a16="http://schemas.microsoft.com/office/drawing/2014/main" id="{5DCA22D5-D0B4-1D92-F3CF-C52C5720285F}"/>
              </a:ext>
            </a:extLst>
          </p:cNvPr>
          <p:cNvSpPr txBox="1"/>
          <p:nvPr/>
        </p:nvSpPr>
        <p:spPr>
          <a:xfrm>
            <a:off x="1028700" y="1104900"/>
            <a:ext cx="9944100" cy="829073"/>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Inserting elements in a B+ tree</a:t>
            </a:r>
          </a:p>
        </p:txBody>
      </p:sp>
      <p:sp>
        <p:nvSpPr>
          <p:cNvPr id="13" name="TextBox 9">
            <a:extLst>
              <a:ext uri="{FF2B5EF4-FFF2-40B4-BE49-F238E27FC236}">
                <a16:creationId xmlns:a16="http://schemas.microsoft.com/office/drawing/2014/main" id="{D7D2166C-C4E3-7EB8-2FBF-F6DFAA9B41C4}"/>
              </a:ext>
            </a:extLst>
          </p:cNvPr>
          <p:cNvSpPr txBox="1"/>
          <p:nvPr/>
        </p:nvSpPr>
        <p:spPr>
          <a:xfrm>
            <a:off x="2514600" y="2569845"/>
            <a:ext cx="11577336" cy="3323987"/>
          </a:xfrm>
          <a:prstGeom prst="rect">
            <a:avLst/>
          </a:prstGeom>
        </p:spPr>
        <p:txBody>
          <a:bodyPr wrap="square" lIns="0" tIns="0" rIns="0" bIns="0" rtlCol="0" anchor="t">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Start from the root</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Traverse to the appropriate leaf</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Insert key in sorted order</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Check for overflow</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Split the leaf node if required</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Copy separator key to parent – </a:t>
            </a:r>
            <a:r>
              <a:rPr lang="en-US" altLang="en-US" sz="2400" b="1" dirty="0">
                <a:solidFill>
                  <a:srgbClr val="344E41"/>
                </a:solidFill>
                <a:latin typeface="Raleway" pitchFamily="2" charset="0"/>
              </a:rPr>
              <a:t>my separator key is always the first key of my right node</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Repeat splitting up the tree if needed</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solidFill>
                  <a:srgbClr val="344E41"/>
                </a:solidFill>
                <a:latin typeface="Raleway" pitchFamily="2" charset="0"/>
              </a:rPr>
              <a:t>Create new root if root overflows</a:t>
            </a:r>
          </a:p>
        </p:txBody>
      </p:sp>
      <p:sp>
        <p:nvSpPr>
          <p:cNvPr id="4" name="Rectangle 1">
            <a:extLst>
              <a:ext uri="{FF2B5EF4-FFF2-40B4-BE49-F238E27FC236}">
                <a16:creationId xmlns:a16="http://schemas.microsoft.com/office/drawing/2014/main" id="{FE6812E7-F1D0-DF53-0EAD-62DF7B01C5E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8039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FA383348-697C-510D-7329-D2D2E56DE2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1A43E5-9EDC-D7FC-4833-5D93C7550674}"/>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46AC9125-E751-94D0-51D6-1DFE728171A0}"/>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F7A28A6-A4D9-C98E-C001-0AF8020FAAB8}"/>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14</a:t>
            </a:r>
          </a:p>
        </p:txBody>
      </p:sp>
      <p:sp>
        <p:nvSpPr>
          <p:cNvPr id="12" name="TextBox 8">
            <a:extLst>
              <a:ext uri="{FF2B5EF4-FFF2-40B4-BE49-F238E27FC236}">
                <a16:creationId xmlns:a16="http://schemas.microsoft.com/office/drawing/2014/main" id="{A56FFA8D-405F-76B4-8D2A-A8633999C497}"/>
              </a:ext>
            </a:extLst>
          </p:cNvPr>
          <p:cNvSpPr txBox="1"/>
          <p:nvPr/>
        </p:nvSpPr>
        <p:spPr>
          <a:xfrm>
            <a:off x="1028700" y="1104900"/>
            <a:ext cx="16230600" cy="813684"/>
          </a:xfrm>
          <a:prstGeom prst="rect">
            <a:avLst/>
          </a:prstGeom>
        </p:spPr>
        <p:txBody>
          <a:bodyPr wrap="square" lIns="0" tIns="0" rIns="0" bIns="0" rtlCol="0" anchor="t">
            <a:spAutoFit/>
          </a:bodyPr>
          <a:lstStyle/>
          <a:p>
            <a:pPr algn="l">
              <a:lnSpc>
                <a:spcPts val="6719"/>
              </a:lnSpc>
            </a:pPr>
            <a:r>
              <a:rPr lang="en-US" sz="4400" dirty="0">
                <a:solidFill>
                  <a:srgbClr val="344E41"/>
                </a:solidFill>
                <a:latin typeface="Prata"/>
                <a:ea typeface="Prata"/>
                <a:cs typeface="Prata"/>
                <a:sym typeface="Prata"/>
              </a:rPr>
              <a:t>Example: insertion of 30, 10, 50, 90, 70 with order 3</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C84332A9-D01E-105A-0AEB-8C1D51433BA3}"/>
                  </a:ext>
                </a:extLst>
              </p14:cNvPr>
              <p14:cNvContentPartPr/>
              <p14:nvPr/>
            </p14:nvContentPartPr>
            <p14:xfrm>
              <a:off x="14020680" y="2864760"/>
              <a:ext cx="360" cy="360"/>
            </p14:xfrm>
          </p:contentPart>
        </mc:Choice>
        <mc:Fallback xmlns="">
          <p:pic>
            <p:nvPicPr>
              <p:cNvPr id="20" name="Ink 19">
                <a:extLst>
                  <a:ext uri="{FF2B5EF4-FFF2-40B4-BE49-F238E27FC236}">
                    <a16:creationId xmlns:a16="http://schemas.microsoft.com/office/drawing/2014/main" id="{C84332A9-D01E-105A-0AEB-8C1D51433BA3}"/>
                  </a:ext>
                </a:extLst>
              </p:cNvPr>
              <p:cNvPicPr/>
              <p:nvPr/>
            </p:nvPicPr>
            <p:blipFill>
              <a:blip r:embed="rId3"/>
              <a:stretch>
                <a:fillRect/>
              </a:stretch>
            </p:blipFill>
            <p:spPr>
              <a:xfrm>
                <a:off x="14014560" y="2858640"/>
                <a:ext cx="12600" cy="12600"/>
              </a:xfrm>
              <a:prstGeom prst="rect">
                <a:avLst/>
              </a:prstGeom>
            </p:spPr>
          </p:pic>
        </mc:Fallback>
      </mc:AlternateContent>
    </p:spTree>
    <p:extLst>
      <p:ext uri="{BB962C8B-B14F-4D97-AF65-F5344CB8AC3E}">
        <p14:creationId xmlns:p14="http://schemas.microsoft.com/office/powerpoint/2010/main" val="1419439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F4D8AF12-D292-965E-AB36-9FD8B6E0A06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16FB96-138D-E30C-F6D6-F2A192A494D9}"/>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20613146-C249-4F4D-10FC-5C12C04E4B46}"/>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28F6135F-150E-5998-F6BD-BC2E6FB8EF4B}"/>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15</a:t>
            </a:r>
          </a:p>
        </p:txBody>
      </p:sp>
      <p:sp>
        <p:nvSpPr>
          <p:cNvPr id="12" name="TextBox 8">
            <a:extLst>
              <a:ext uri="{FF2B5EF4-FFF2-40B4-BE49-F238E27FC236}">
                <a16:creationId xmlns:a16="http://schemas.microsoft.com/office/drawing/2014/main" id="{943B6153-D5D6-2ACD-7845-DC86D9052915}"/>
              </a:ext>
            </a:extLst>
          </p:cNvPr>
          <p:cNvSpPr txBox="1"/>
          <p:nvPr/>
        </p:nvSpPr>
        <p:spPr>
          <a:xfrm>
            <a:off x="1028700" y="1104900"/>
            <a:ext cx="16230600" cy="1657505"/>
          </a:xfrm>
          <a:prstGeom prst="rect">
            <a:avLst/>
          </a:prstGeom>
        </p:spPr>
        <p:txBody>
          <a:bodyPr wrap="square" lIns="0" tIns="0" rIns="0" bIns="0" rtlCol="0" anchor="t">
            <a:spAutoFit/>
          </a:bodyPr>
          <a:lstStyle/>
          <a:p>
            <a:pPr algn="l">
              <a:lnSpc>
                <a:spcPts val="6719"/>
              </a:lnSpc>
            </a:pPr>
            <a:r>
              <a:rPr lang="en-US" sz="4000" dirty="0">
                <a:solidFill>
                  <a:srgbClr val="344E41"/>
                </a:solidFill>
                <a:latin typeface="Prata"/>
                <a:ea typeface="Prata"/>
                <a:cs typeface="Prata"/>
                <a:sym typeface="Prata"/>
              </a:rPr>
              <a:t>Example: insertion of 1, 4, 7, 10, 17, 21, 31, 25, 19, 20, 28, 42 with order 4</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154F9DE8-7B2D-EDB7-AB85-E1BF6F95AD72}"/>
                  </a:ext>
                </a:extLst>
              </p14:cNvPr>
              <p14:cNvContentPartPr/>
              <p14:nvPr/>
            </p14:nvContentPartPr>
            <p14:xfrm>
              <a:off x="14020680" y="2864760"/>
              <a:ext cx="360" cy="360"/>
            </p14:xfrm>
          </p:contentPart>
        </mc:Choice>
        <mc:Fallback xmlns="">
          <p:pic>
            <p:nvPicPr>
              <p:cNvPr id="20" name="Ink 19">
                <a:extLst>
                  <a:ext uri="{FF2B5EF4-FFF2-40B4-BE49-F238E27FC236}">
                    <a16:creationId xmlns:a16="http://schemas.microsoft.com/office/drawing/2014/main" id="{154F9DE8-7B2D-EDB7-AB85-E1BF6F95AD72}"/>
                  </a:ext>
                </a:extLst>
              </p:cNvPr>
              <p:cNvPicPr/>
              <p:nvPr/>
            </p:nvPicPr>
            <p:blipFill>
              <a:blip r:embed="rId3"/>
              <a:stretch>
                <a:fillRect/>
              </a:stretch>
            </p:blipFill>
            <p:spPr>
              <a:xfrm>
                <a:off x="14014560" y="2858640"/>
                <a:ext cx="12600" cy="12600"/>
              </a:xfrm>
              <a:prstGeom prst="rect">
                <a:avLst/>
              </a:prstGeom>
            </p:spPr>
          </p:pic>
        </mc:Fallback>
      </mc:AlternateContent>
    </p:spTree>
    <p:extLst>
      <p:ext uri="{BB962C8B-B14F-4D97-AF65-F5344CB8AC3E}">
        <p14:creationId xmlns:p14="http://schemas.microsoft.com/office/powerpoint/2010/main" val="3754103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8774D343-259F-C2BE-4E77-6466B46E8BE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ED1FD3-C150-06CE-25EA-311D58A71D2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1BD569B4-BE98-355D-001E-BC94E4157AC2}"/>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B41044AA-4466-C6A1-F11B-FAE45DDD753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16</a:t>
            </a:r>
          </a:p>
        </p:txBody>
      </p:sp>
      <p:sp>
        <p:nvSpPr>
          <p:cNvPr id="12" name="TextBox 8">
            <a:extLst>
              <a:ext uri="{FF2B5EF4-FFF2-40B4-BE49-F238E27FC236}">
                <a16:creationId xmlns:a16="http://schemas.microsoft.com/office/drawing/2014/main" id="{A188DB00-60E6-7F86-4785-47291B26B950}"/>
              </a:ext>
            </a:extLst>
          </p:cNvPr>
          <p:cNvSpPr txBox="1"/>
          <p:nvPr/>
        </p:nvSpPr>
        <p:spPr>
          <a:xfrm>
            <a:off x="1028700" y="1104900"/>
            <a:ext cx="16230600" cy="798295"/>
          </a:xfrm>
          <a:prstGeom prst="rect">
            <a:avLst/>
          </a:prstGeom>
        </p:spPr>
        <p:txBody>
          <a:bodyPr wrap="square" lIns="0" tIns="0" rIns="0" bIns="0" rtlCol="0" anchor="t">
            <a:spAutoFit/>
          </a:bodyPr>
          <a:lstStyle/>
          <a:p>
            <a:pPr algn="l">
              <a:lnSpc>
                <a:spcPts val="6719"/>
              </a:lnSpc>
            </a:pPr>
            <a:r>
              <a:rPr lang="en-US" sz="4000" dirty="0">
                <a:solidFill>
                  <a:srgbClr val="344E41"/>
                </a:solidFill>
                <a:latin typeface="Prata"/>
                <a:ea typeface="Prata"/>
                <a:cs typeface="Prata"/>
                <a:sym typeface="Prata"/>
              </a:rPr>
              <a:t>Difference between B and B+ trees</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FD2FDC3A-02AB-A3E3-65C2-C1CD0D297B8E}"/>
                  </a:ext>
                </a:extLst>
              </p14:cNvPr>
              <p14:cNvContentPartPr/>
              <p14:nvPr/>
            </p14:nvContentPartPr>
            <p14:xfrm>
              <a:off x="14020680" y="2864760"/>
              <a:ext cx="360" cy="360"/>
            </p14:xfrm>
          </p:contentPart>
        </mc:Choice>
        <mc:Fallback xmlns="">
          <p:pic>
            <p:nvPicPr>
              <p:cNvPr id="20" name="Ink 19">
                <a:extLst>
                  <a:ext uri="{FF2B5EF4-FFF2-40B4-BE49-F238E27FC236}">
                    <a16:creationId xmlns:a16="http://schemas.microsoft.com/office/drawing/2014/main" id="{FD2FDC3A-02AB-A3E3-65C2-C1CD0D297B8E}"/>
                  </a:ext>
                </a:extLst>
              </p:cNvPr>
              <p:cNvPicPr/>
              <p:nvPr/>
            </p:nvPicPr>
            <p:blipFill>
              <a:blip r:embed="rId3"/>
              <a:stretch>
                <a:fillRect/>
              </a:stretch>
            </p:blipFill>
            <p:spPr>
              <a:xfrm>
                <a:off x="14014560" y="2858640"/>
                <a:ext cx="12600" cy="12600"/>
              </a:xfrm>
              <a:prstGeom prst="rect">
                <a:avLst/>
              </a:prstGeom>
            </p:spPr>
          </p:pic>
        </mc:Fallback>
      </mc:AlternateContent>
      <p:pic>
        <p:nvPicPr>
          <p:cNvPr id="6" name="Picture 5">
            <a:extLst>
              <a:ext uri="{FF2B5EF4-FFF2-40B4-BE49-F238E27FC236}">
                <a16:creationId xmlns:a16="http://schemas.microsoft.com/office/drawing/2014/main" id="{9F49FD2B-F411-177B-ADD6-474D21D76E02}"/>
              </a:ext>
            </a:extLst>
          </p:cNvPr>
          <p:cNvPicPr>
            <a:picLocks noChangeAspect="1"/>
          </p:cNvPicPr>
          <p:nvPr/>
        </p:nvPicPr>
        <p:blipFill>
          <a:blip r:embed="rId4"/>
          <a:stretch>
            <a:fillRect/>
          </a:stretch>
        </p:blipFill>
        <p:spPr>
          <a:xfrm>
            <a:off x="3200400" y="2283289"/>
            <a:ext cx="9372240" cy="6594916"/>
          </a:xfrm>
          <a:prstGeom prst="rect">
            <a:avLst/>
          </a:prstGeom>
        </p:spPr>
      </p:pic>
    </p:spTree>
    <p:extLst>
      <p:ext uri="{BB962C8B-B14F-4D97-AF65-F5344CB8AC3E}">
        <p14:creationId xmlns:p14="http://schemas.microsoft.com/office/powerpoint/2010/main" val="161016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3664369"/>
            <a:ext cx="12734892" cy="2966085"/>
          </a:xfrm>
          <a:prstGeom prst="rect">
            <a:avLst/>
          </a:prstGeom>
        </p:spPr>
        <p:txBody>
          <a:bodyPr lIns="0" tIns="0" rIns="0" bIns="0" rtlCol="0" anchor="t">
            <a:spAutoFit/>
          </a:bodyPr>
          <a:lstStyle/>
          <a:p>
            <a:pPr algn="ctr">
              <a:lnSpc>
                <a:spcPts val="11400"/>
              </a:lnSpc>
            </a:pPr>
            <a:r>
              <a:rPr lang="en-US" sz="11400">
                <a:solidFill>
                  <a:srgbClr val="344E41"/>
                </a:solidFill>
                <a:latin typeface="Prata"/>
                <a:ea typeface="Prata"/>
                <a:cs typeface="Prata"/>
                <a:sym typeface="Prata"/>
              </a:rPr>
              <a:t>THANK YOU FOR LISTENING</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2776554" y="2399939"/>
            <a:ext cx="12734892" cy="873125"/>
          </a:xfrm>
          <a:prstGeom prst="rect">
            <a:avLst/>
          </a:prstGeom>
        </p:spPr>
        <p:txBody>
          <a:bodyPr lIns="0" tIns="0" rIns="0" bIns="0" rtlCol="0" anchor="t">
            <a:spAutoFit/>
          </a:bodyPr>
          <a:lstStyle/>
          <a:p>
            <a:pPr algn="ctr">
              <a:lnSpc>
                <a:spcPts val="7000"/>
              </a:lnSpc>
            </a:pPr>
            <a:r>
              <a:rPr lang="en-US" sz="5000">
                <a:solidFill>
                  <a:srgbClr val="344E41"/>
                </a:solidFill>
                <a:latin typeface="Raleway"/>
                <a:ea typeface="Raleway"/>
                <a:cs typeface="Raleway"/>
                <a:sym typeface="Raleway"/>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679</TotalTime>
  <Words>1345</Words>
  <Application>Microsoft Office PowerPoint</Application>
  <PresentationFormat>Custom</PresentationFormat>
  <Paragraphs>149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Prata</vt:lpstr>
      <vt:lpstr>Raleway Bold</vt:lpstr>
      <vt:lpstr>Raleway</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cp:lastModifiedBy>Roweena Siphora</cp:lastModifiedBy>
  <cp:revision>8</cp:revision>
  <dcterms:created xsi:type="dcterms:W3CDTF">2006-08-16T00:00:00Z</dcterms:created>
  <dcterms:modified xsi:type="dcterms:W3CDTF">2026-01-07T05:06:02Z</dcterms:modified>
  <dc:identifier>DAG9pzpKyXs</dc:identifier>
</cp:coreProperties>
</file>