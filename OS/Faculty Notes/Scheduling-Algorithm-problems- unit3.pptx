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22C45-0EA7-4887-932D-D9C6D5DB374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B3BD0-C57E-4AAB-887B-FD7DCDCCD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68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>
                <a:solidFill>
                  <a:srgbClr val="045C75"/>
                </a:solidFill>
              </a:rPr>
              <a:t>Dr.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Sanjeev</a:t>
            </a:r>
            <a:r>
              <a:rPr spc="-7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Gangwar,</a:t>
            </a:r>
            <a:r>
              <a:rPr spc="-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Assistant </a:t>
            </a:r>
            <a:r>
              <a:rPr spc="-20" dirty="0">
                <a:solidFill>
                  <a:srgbClr val="045C75"/>
                </a:solidFill>
              </a:rPr>
              <a:t>Professor,</a:t>
            </a:r>
            <a:r>
              <a:rPr spc="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Department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of</a:t>
            </a:r>
            <a:r>
              <a:rPr spc="1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Computer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Applications,</a:t>
            </a:r>
            <a:r>
              <a:rPr spc="-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VBS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Purvanchal </a:t>
            </a:r>
            <a:r>
              <a:rPr spc="-20" dirty="0">
                <a:solidFill>
                  <a:srgbClr val="045C75"/>
                </a:solidFill>
              </a:rPr>
              <a:t>University,</a:t>
            </a:r>
            <a:r>
              <a:rPr spc="-10" dirty="0">
                <a:solidFill>
                  <a:srgbClr val="045C75"/>
                </a:solidFill>
              </a:rPr>
              <a:t> Jaunpur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>
                <a:solidFill>
                  <a:srgbClr val="045C75"/>
                </a:solidFill>
              </a:rPr>
              <a:t>Dr.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Sanjeev</a:t>
            </a:r>
            <a:r>
              <a:rPr spc="-7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Gangwar,</a:t>
            </a:r>
            <a:r>
              <a:rPr spc="-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Assistant </a:t>
            </a:r>
            <a:r>
              <a:rPr spc="-20" dirty="0">
                <a:solidFill>
                  <a:srgbClr val="045C75"/>
                </a:solidFill>
              </a:rPr>
              <a:t>Professor,</a:t>
            </a:r>
            <a:r>
              <a:rPr spc="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Department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of</a:t>
            </a:r>
            <a:r>
              <a:rPr spc="1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Computer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Applications,</a:t>
            </a:r>
            <a:r>
              <a:rPr spc="-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VBS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Purvanchal </a:t>
            </a:r>
            <a:r>
              <a:rPr spc="-20" dirty="0">
                <a:solidFill>
                  <a:srgbClr val="045C75"/>
                </a:solidFill>
              </a:rPr>
              <a:t>University,</a:t>
            </a:r>
            <a:r>
              <a:rPr spc="-10" dirty="0">
                <a:solidFill>
                  <a:srgbClr val="045C75"/>
                </a:solidFill>
              </a:rPr>
              <a:t> Jaunpur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>
                <a:solidFill>
                  <a:srgbClr val="045C75"/>
                </a:solidFill>
              </a:rPr>
              <a:t>Dr.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Sanjeev</a:t>
            </a:r>
            <a:r>
              <a:rPr spc="-7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Gangwar,</a:t>
            </a:r>
            <a:r>
              <a:rPr spc="-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Assistant </a:t>
            </a:r>
            <a:r>
              <a:rPr spc="-20" dirty="0">
                <a:solidFill>
                  <a:srgbClr val="045C75"/>
                </a:solidFill>
              </a:rPr>
              <a:t>Professor,</a:t>
            </a:r>
            <a:r>
              <a:rPr spc="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Department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of</a:t>
            </a:r>
            <a:r>
              <a:rPr spc="1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Computer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Applications,</a:t>
            </a:r>
            <a:r>
              <a:rPr spc="-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VBS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Purvanchal </a:t>
            </a:r>
            <a:r>
              <a:rPr spc="-20" dirty="0">
                <a:solidFill>
                  <a:srgbClr val="045C75"/>
                </a:solidFill>
              </a:rPr>
              <a:t>University,</a:t>
            </a:r>
            <a:r>
              <a:rPr spc="-10" dirty="0">
                <a:solidFill>
                  <a:srgbClr val="045C75"/>
                </a:solidFill>
              </a:rPr>
              <a:t> Jaunpur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>
                <a:solidFill>
                  <a:srgbClr val="045C75"/>
                </a:solidFill>
              </a:rPr>
              <a:t>Dr.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Sanjeev</a:t>
            </a:r>
            <a:r>
              <a:rPr spc="-7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Gangwar,</a:t>
            </a:r>
            <a:r>
              <a:rPr spc="-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Assistant </a:t>
            </a:r>
            <a:r>
              <a:rPr spc="-20" dirty="0">
                <a:solidFill>
                  <a:srgbClr val="045C75"/>
                </a:solidFill>
              </a:rPr>
              <a:t>Professor,</a:t>
            </a:r>
            <a:r>
              <a:rPr spc="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Department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of</a:t>
            </a:r>
            <a:r>
              <a:rPr spc="1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Computer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Applications,</a:t>
            </a:r>
            <a:r>
              <a:rPr spc="-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VBS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Purvanchal </a:t>
            </a:r>
            <a:r>
              <a:rPr spc="-20" dirty="0">
                <a:solidFill>
                  <a:srgbClr val="045C75"/>
                </a:solidFill>
              </a:rPr>
              <a:t>University,</a:t>
            </a:r>
            <a:r>
              <a:rPr spc="-10" dirty="0">
                <a:solidFill>
                  <a:srgbClr val="045C75"/>
                </a:solidFill>
              </a:rPr>
              <a:t> Jaunpur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D1EAED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>
                <a:solidFill>
                  <a:srgbClr val="045C75"/>
                </a:solidFill>
              </a:rPr>
              <a:t>Dr.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Sanjeev</a:t>
            </a:r>
            <a:r>
              <a:rPr spc="-7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Gangwar,</a:t>
            </a:r>
            <a:r>
              <a:rPr spc="-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Assistant </a:t>
            </a:r>
            <a:r>
              <a:rPr spc="-20" dirty="0">
                <a:solidFill>
                  <a:srgbClr val="045C75"/>
                </a:solidFill>
              </a:rPr>
              <a:t>Professor,</a:t>
            </a:r>
            <a:r>
              <a:rPr spc="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Department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of</a:t>
            </a:r>
            <a:r>
              <a:rPr spc="1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Computer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Applications,</a:t>
            </a:r>
            <a:r>
              <a:rPr spc="-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VBS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Purvanchal </a:t>
            </a:r>
            <a:r>
              <a:rPr spc="-20" dirty="0">
                <a:solidFill>
                  <a:srgbClr val="045C75"/>
                </a:solidFill>
              </a:rPr>
              <a:t>University,</a:t>
            </a:r>
            <a:r>
              <a:rPr spc="-10" dirty="0">
                <a:solidFill>
                  <a:srgbClr val="045C75"/>
                </a:solidFill>
              </a:rPr>
              <a:t> Jaunpur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247"/>
            <a:ext cx="9144000" cy="10261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01357" y="0"/>
            <a:ext cx="4742642" cy="5999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9090762" cy="101993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881" y="52959"/>
            <a:ext cx="9145643" cy="9008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447" y="516382"/>
            <a:ext cx="756310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95869"/>
            <a:ext cx="8211820" cy="4559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5000" y="6326686"/>
            <a:ext cx="807242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D1EAED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>
                <a:solidFill>
                  <a:srgbClr val="045C75"/>
                </a:solidFill>
              </a:rPr>
              <a:t>Dr.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Sanjeev</a:t>
            </a:r>
            <a:r>
              <a:rPr spc="-7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Gangwar,</a:t>
            </a:r>
            <a:r>
              <a:rPr spc="-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Assistant </a:t>
            </a:r>
            <a:r>
              <a:rPr spc="-20" dirty="0">
                <a:solidFill>
                  <a:srgbClr val="045C75"/>
                </a:solidFill>
              </a:rPr>
              <a:t>Professor,</a:t>
            </a:r>
            <a:r>
              <a:rPr spc="2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Department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of</a:t>
            </a:r>
            <a:r>
              <a:rPr spc="10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Computer</a:t>
            </a:r>
            <a:r>
              <a:rPr spc="-65" dirty="0">
                <a:solidFill>
                  <a:srgbClr val="045C75"/>
                </a:solidFill>
              </a:rPr>
              <a:t> </a:t>
            </a:r>
            <a:r>
              <a:rPr spc="-10" dirty="0">
                <a:solidFill>
                  <a:srgbClr val="045C75"/>
                </a:solidFill>
              </a:rPr>
              <a:t>Applications,</a:t>
            </a:r>
            <a:r>
              <a:rPr spc="-5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VBS</a:t>
            </a:r>
            <a:r>
              <a:rPr spc="-10" dirty="0">
                <a:solidFill>
                  <a:srgbClr val="045C75"/>
                </a:solidFill>
              </a:rPr>
              <a:t> </a:t>
            </a:r>
            <a:r>
              <a:rPr dirty="0">
                <a:solidFill>
                  <a:srgbClr val="045C75"/>
                </a:solidFill>
              </a:rPr>
              <a:t>Purvanchal </a:t>
            </a:r>
            <a:r>
              <a:rPr spc="-20" dirty="0">
                <a:solidFill>
                  <a:srgbClr val="045C75"/>
                </a:solidFill>
              </a:rPr>
              <a:t>University,</a:t>
            </a:r>
            <a:r>
              <a:rPr spc="-10" dirty="0">
                <a:solidFill>
                  <a:srgbClr val="045C75"/>
                </a:solidFill>
              </a:rPr>
              <a:t> Jaunpur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89593" y="6555667"/>
            <a:ext cx="354711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0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5.png"/><Relationship Id="rId21" Type="http://schemas.openxmlformats.org/officeDocument/2006/relationships/image" Target="../media/image72.png"/><Relationship Id="rId7" Type="http://schemas.openxmlformats.org/officeDocument/2006/relationships/image" Target="../media/image59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image" Target="../media/image54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57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75.png"/><Relationship Id="rId21" Type="http://schemas.openxmlformats.org/officeDocument/2006/relationships/image" Target="../media/image12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image" Target="../media/image74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504" y="2209800"/>
            <a:ext cx="7635621" cy="186397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412750">
              <a:lnSpc>
                <a:spcPts val="7059"/>
              </a:lnSpc>
              <a:spcBef>
                <a:spcPts val="335"/>
              </a:spcBef>
              <a:tabLst>
                <a:tab pos="3959860" algn="l"/>
                <a:tab pos="6478270" algn="l"/>
              </a:tabLst>
            </a:pPr>
            <a:r>
              <a:rPr sz="6000" spc="-10" dirty="0">
                <a:solidFill>
                  <a:srgbClr val="000000"/>
                </a:solidFill>
              </a:rPr>
              <a:t>Operating</a:t>
            </a:r>
            <a:r>
              <a:rPr sz="6000" dirty="0">
                <a:solidFill>
                  <a:srgbClr val="000000"/>
                </a:solidFill>
              </a:rPr>
              <a:t>	</a:t>
            </a:r>
            <a:r>
              <a:rPr sz="6000" spc="-10" dirty="0">
                <a:solidFill>
                  <a:srgbClr val="000000"/>
                </a:solidFill>
              </a:rPr>
              <a:t>System</a:t>
            </a:r>
            <a:r>
              <a:rPr sz="6000" dirty="0">
                <a:solidFill>
                  <a:srgbClr val="000000"/>
                </a:solidFill>
              </a:rPr>
              <a:t>	</a:t>
            </a:r>
            <a:r>
              <a:rPr sz="6000" spc="-60" dirty="0">
                <a:solidFill>
                  <a:srgbClr val="000000"/>
                </a:solidFill>
              </a:rPr>
              <a:t>: </a:t>
            </a:r>
            <a:r>
              <a:rPr sz="6000" spc="-10" dirty="0">
                <a:solidFill>
                  <a:srgbClr val="000000"/>
                </a:solidFill>
              </a:rPr>
              <a:t>Scheduling</a:t>
            </a:r>
            <a:r>
              <a:rPr sz="6000" spc="-285" dirty="0">
                <a:solidFill>
                  <a:srgbClr val="000000"/>
                </a:solidFill>
              </a:rPr>
              <a:t> </a:t>
            </a:r>
            <a:r>
              <a:rPr sz="6000" spc="-10" dirty="0">
                <a:solidFill>
                  <a:srgbClr val="000000"/>
                </a:solidFill>
              </a:rPr>
              <a:t>Algorithm</a:t>
            </a:r>
            <a:r>
              <a:rPr lang="en-US" sz="6000" spc="-10" dirty="0">
                <a:solidFill>
                  <a:srgbClr val="000000"/>
                </a:solidFill>
              </a:rPr>
              <a:t>s</a:t>
            </a:r>
            <a:endParaRPr sz="6000" dirty="0"/>
          </a:p>
        </p:txBody>
      </p:sp>
      <p:sp>
        <p:nvSpPr>
          <p:cNvPr id="4" name="object 4"/>
          <p:cNvSpPr txBox="1"/>
          <p:nvPr/>
        </p:nvSpPr>
        <p:spPr>
          <a:xfrm>
            <a:off x="8628126" y="6517640"/>
            <a:ext cx="736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45C75"/>
                </a:solidFill>
                <a:latin typeface="Constantia"/>
                <a:cs typeface="Constantia"/>
              </a:rPr>
              <a:t>1</a:t>
            </a:r>
            <a:endParaRPr sz="1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6230" y="574294"/>
            <a:ext cx="597090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Scheduling</a:t>
            </a:r>
            <a:r>
              <a:rPr sz="5000" spc="-315" dirty="0"/>
              <a:t> </a:t>
            </a:r>
            <a:r>
              <a:rPr sz="5000" spc="-10" dirty="0"/>
              <a:t>Algorithm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35940" y="1549273"/>
            <a:ext cx="7115175" cy="445262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39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Concepts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First-Come,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First-Served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(FCFS)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Shortest-</a:t>
            </a:r>
            <a:r>
              <a:rPr sz="2400" spc="-20" dirty="0">
                <a:latin typeface="Times New Roman"/>
                <a:cs typeface="Times New Roman"/>
              </a:rPr>
              <a:t>Job-</a:t>
            </a:r>
            <a:r>
              <a:rPr sz="2400" dirty="0">
                <a:latin typeface="Times New Roman"/>
                <a:cs typeface="Times New Roman"/>
              </a:rPr>
              <a:t>First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(SJF)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998219" lvl="1" indent="-26606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998219" algn="l"/>
              </a:tabLst>
            </a:pPr>
            <a:r>
              <a:rPr sz="2400" dirty="0">
                <a:latin typeface="Times New Roman"/>
                <a:cs typeface="Times New Roman"/>
              </a:rPr>
              <a:t>Nonpreemptive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SJF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Scheduling</a:t>
            </a:r>
            <a:endParaRPr sz="2400">
              <a:latin typeface="Times New Roman"/>
              <a:cs typeface="Times New Roman"/>
            </a:endParaRPr>
          </a:p>
          <a:p>
            <a:pPr marL="998219" lvl="1" indent="-26606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998219" algn="l"/>
              </a:tabLst>
            </a:pPr>
            <a:r>
              <a:rPr sz="2400" dirty="0">
                <a:latin typeface="Times New Roman"/>
                <a:cs typeface="Times New Roman"/>
              </a:rPr>
              <a:t>Preemptive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SJF</a:t>
            </a:r>
            <a:r>
              <a:rPr sz="2400" spc="-10" dirty="0">
                <a:latin typeface="Times New Roman"/>
                <a:cs typeface="Times New Roman"/>
              </a:rPr>
              <a:t> Scheduling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Priority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962025" lvl="1" indent="-240029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962025" algn="l"/>
              </a:tabLst>
            </a:pPr>
            <a:r>
              <a:rPr sz="2400" dirty="0">
                <a:latin typeface="Times New Roman"/>
                <a:cs typeface="Times New Roman"/>
              </a:rPr>
              <a:t>Nonpreemptive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962025" lvl="1" indent="-240029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962025" algn="l"/>
              </a:tabLst>
            </a:pPr>
            <a:r>
              <a:rPr sz="2400" dirty="0">
                <a:latin typeface="Times New Roman"/>
                <a:cs typeface="Times New Roman"/>
              </a:rPr>
              <a:t>Preemptive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5750" algn="l"/>
              </a:tabLst>
            </a:pPr>
            <a:r>
              <a:rPr sz="2400" spc="-10" dirty="0">
                <a:latin typeface="Times New Roman"/>
                <a:cs typeface="Times New Roman"/>
              </a:rPr>
              <a:t>Round-</a:t>
            </a:r>
            <a:r>
              <a:rPr sz="2400" dirty="0">
                <a:latin typeface="Times New Roman"/>
                <a:cs typeface="Times New Roman"/>
              </a:rPr>
              <a:t>Robin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Advantages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Round-</a:t>
            </a:r>
            <a:r>
              <a:rPr sz="2400" dirty="0">
                <a:latin typeface="Times New Roman"/>
                <a:cs typeface="Times New Roman"/>
              </a:rPr>
              <a:t>Robin Scheduling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Disadvantages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Round-</a:t>
            </a:r>
            <a:r>
              <a:rPr sz="2400" dirty="0">
                <a:latin typeface="Times New Roman"/>
                <a:cs typeface="Times New Roman"/>
              </a:rPr>
              <a:t>Robin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2218" y="6517640"/>
            <a:ext cx="996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45C75"/>
                </a:solidFill>
                <a:latin typeface="Constantia"/>
                <a:cs typeface="Constantia"/>
              </a:rPr>
              <a:t>2</a:t>
            </a:r>
            <a:endParaRPr sz="1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2050">
              <a:lnSpc>
                <a:spcPct val="100000"/>
              </a:lnSpc>
              <a:spcBef>
                <a:spcPts val="105"/>
              </a:spcBef>
            </a:pPr>
            <a:r>
              <a:rPr dirty="0"/>
              <a:t>Scheduling</a:t>
            </a:r>
            <a:r>
              <a:rPr spc="-2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21282"/>
            <a:ext cx="8074659" cy="3844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4955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8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scheduling</a:t>
            </a:r>
            <a:r>
              <a:rPr sz="2600" spc="1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algorithm</a:t>
            </a:r>
            <a:r>
              <a:rPr sz="2600" spc="18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deals</a:t>
            </a:r>
            <a:r>
              <a:rPr sz="2600" spc="18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19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8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problem</a:t>
            </a:r>
            <a:r>
              <a:rPr sz="2600" spc="180" dirty="0">
                <a:latin typeface="Times New Roman"/>
                <a:cs typeface="Times New Roman"/>
              </a:rPr>
              <a:t>  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deciding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which</a:t>
            </a:r>
            <a:r>
              <a:rPr sz="2600" spc="1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ready</a:t>
            </a:r>
            <a:r>
              <a:rPr sz="2600" spc="1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queue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be </a:t>
            </a:r>
            <a:r>
              <a:rPr sz="2600" dirty="0">
                <a:latin typeface="Times New Roman"/>
                <a:cs typeface="Times New Roman"/>
              </a:rPr>
              <a:t>allocated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CPU.</a:t>
            </a:r>
            <a:endParaRPr sz="2600">
              <a:latin typeface="Times New Roman"/>
              <a:cs typeface="Times New Roman"/>
            </a:endParaRPr>
          </a:p>
          <a:p>
            <a:pPr marL="285115" marR="6350" indent="-274955" algn="just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There</a:t>
            </a:r>
            <a:r>
              <a:rPr sz="2600" spc="1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many</a:t>
            </a:r>
            <a:r>
              <a:rPr sz="2600" spc="12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CPU</a:t>
            </a:r>
            <a:r>
              <a:rPr sz="2600" spc="114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scheduling</a:t>
            </a:r>
            <a:r>
              <a:rPr sz="2600" spc="1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algorithm</a:t>
            </a:r>
            <a:r>
              <a:rPr sz="2600" spc="1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114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shown below.</a:t>
            </a:r>
            <a:endParaRPr sz="2600">
              <a:latin typeface="Times New Roman"/>
              <a:cs typeface="Times New Roman"/>
            </a:endParaRPr>
          </a:p>
          <a:p>
            <a:pPr marL="728980" lvl="1" indent="-32321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85416"/>
              <a:buFont typeface="Wingdings"/>
              <a:buChar char=""/>
              <a:tabLst>
                <a:tab pos="728980" algn="l"/>
              </a:tabLst>
            </a:pPr>
            <a:r>
              <a:rPr sz="2400" spc="-10" dirty="0">
                <a:latin typeface="Times New Roman"/>
                <a:cs typeface="Times New Roman"/>
              </a:rPr>
              <a:t>First-</a:t>
            </a:r>
            <a:r>
              <a:rPr sz="2400" dirty="0">
                <a:latin typeface="Times New Roman"/>
                <a:cs typeface="Times New Roman"/>
              </a:rPr>
              <a:t>Come,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First-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(FCFS)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85416"/>
              <a:buFont typeface="Wingdings"/>
              <a:buChar char=""/>
              <a:tabLst>
                <a:tab pos="652145" algn="l"/>
              </a:tabLst>
            </a:pPr>
            <a:r>
              <a:rPr sz="2400" dirty="0">
                <a:latin typeface="Times New Roman"/>
                <a:cs typeface="Times New Roman"/>
              </a:rPr>
              <a:t>Shortest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–First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(SJF)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85416"/>
              <a:buFont typeface="Wingdings"/>
              <a:buChar char=""/>
              <a:tabLst>
                <a:tab pos="652145" algn="l"/>
              </a:tabLst>
            </a:pPr>
            <a:r>
              <a:rPr sz="2400" dirty="0">
                <a:latin typeface="Times New Roman"/>
                <a:cs typeface="Times New Roman"/>
              </a:rPr>
              <a:t>Priority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10" dirty="0">
                <a:latin typeface="Times New Roman"/>
                <a:cs typeface="Times New Roman"/>
              </a:rPr>
              <a:t> algorithm</a:t>
            </a:r>
            <a:endParaRPr sz="24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85416"/>
              <a:buFont typeface="Wingdings"/>
              <a:buChar char=""/>
              <a:tabLst>
                <a:tab pos="652780" algn="l"/>
              </a:tabLst>
            </a:pPr>
            <a:r>
              <a:rPr sz="2400" dirty="0">
                <a:latin typeface="Times New Roman"/>
                <a:cs typeface="Times New Roman"/>
              </a:rPr>
              <a:t>Round-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Robin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/>
              <a:t>FCFS</a:t>
            </a:r>
            <a:r>
              <a:rPr spc="-15" dirty="0"/>
              <a:t> </a:t>
            </a:r>
            <a:r>
              <a:rPr dirty="0"/>
              <a:t>Scheduling</a:t>
            </a:r>
            <a:r>
              <a:rPr spc="-2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23197" y="6349695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45C75"/>
                </a:solidFill>
                <a:latin typeface="Constantia"/>
                <a:cs typeface="Constantia"/>
              </a:rPr>
              <a:t>4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544777"/>
            <a:ext cx="8072755" cy="3695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marR="5715" indent="-281940" algn="just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89285"/>
              <a:buFont typeface="Segoe UI Symbol"/>
              <a:buChar char="⚫"/>
              <a:tabLst>
                <a:tab pos="285115" algn="l"/>
              </a:tabLst>
            </a:pPr>
            <a:r>
              <a:rPr sz="2800" spc="-10" dirty="0">
                <a:latin typeface="Times New Roman"/>
                <a:cs typeface="Times New Roman"/>
              </a:rPr>
              <a:t>First-</a:t>
            </a:r>
            <a:r>
              <a:rPr sz="2800" dirty="0">
                <a:latin typeface="Times New Roman"/>
                <a:cs typeface="Times New Roman"/>
              </a:rPr>
              <a:t>Come,</a:t>
            </a:r>
            <a:r>
              <a:rPr sz="2800" spc="25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First-</a:t>
            </a:r>
            <a:r>
              <a:rPr sz="2800" dirty="0">
                <a:latin typeface="Times New Roman"/>
                <a:cs typeface="Times New Roman"/>
              </a:rPr>
              <a:t>Served</a:t>
            </a:r>
            <a:r>
              <a:rPr sz="2800" spc="254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Scheduling</a:t>
            </a:r>
            <a:r>
              <a:rPr sz="2800" spc="254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Algorithm</a:t>
            </a:r>
            <a:r>
              <a:rPr sz="2800" spc="254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nonpreemptive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algorithm.</a:t>
            </a:r>
            <a:endParaRPr sz="2800">
              <a:latin typeface="Times New Roman"/>
              <a:cs typeface="Times New Roman"/>
            </a:endParaRPr>
          </a:p>
          <a:p>
            <a:pPr marL="285115" indent="-281305" algn="just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89285"/>
              <a:buFont typeface="Segoe UI Symbol"/>
              <a:buChar char="⚫"/>
              <a:tabLst>
                <a:tab pos="28511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simplest 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scheduling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algorithms.</a:t>
            </a:r>
            <a:endParaRPr sz="2800">
              <a:latin typeface="Times New Roman"/>
              <a:cs typeface="Times New Roman"/>
            </a:endParaRPr>
          </a:p>
          <a:p>
            <a:pPr marL="285115" marR="5080" indent="-281940" algn="just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89285"/>
              <a:buFont typeface="Segoe UI Symbol"/>
              <a:buChar char="⚫"/>
              <a:tabLst>
                <a:tab pos="28511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6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</a:t>
            </a:r>
            <a:r>
              <a:rPr sz="2800" spc="6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concept</a:t>
            </a:r>
            <a:r>
              <a:rPr sz="2800" spc="6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6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6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</a:t>
            </a:r>
            <a:r>
              <a:rPr sz="2800" spc="6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6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“The</a:t>
            </a:r>
            <a:r>
              <a:rPr sz="2800" spc="6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comes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ready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allocate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CPU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first”.</a:t>
            </a:r>
            <a:endParaRPr sz="2800">
              <a:latin typeface="Times New Roman"/>
              <a:cs typeface="Times New Roman"/>
            </a:endParaRPr>
          </a:p>
          <a:p>
            <a:pPr marL="285115" marR="5715" indent="-281940" algn="just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89285"/>
              <a:buFont typeface="Segoe UI Symbol"/>
              <a:buChar char="⚫"/>
              <a:tabLst>
                <a:tab pos="28511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next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allocate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CPU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1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previous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fully</a:t>
            </a:r>
            <a:r>
              <a:rPr sz="2800" spc="-10" dirty="0">
                <a:latin typeface="Times New Roman"/>
                <a:cs typeface="Times New Roman"/>
              </a:rPr>
              <a:t> executed.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/>
              <a:t>FCFS</a:t>
            </a:r>
            <a:r>
              <a:rPr spc="-15" dirty="0"/>
              <a:t> </a:t>
            </a:r>
            <a:r>
              <a:rPr dirty="0"/>
              <a:t>Scheduling</a:t>
            </a:r>
            <a:r>
              <a:rPr spc="-2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84757"/>
            <a:ext cx="2303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latin typeface="Times New Roman"/>
                <a:cs typeface="Times New Roman"/>
              </a:rPr>
              <a:t>Example-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1</a:t>
            </a:r>
            <a:r>
              <a:rPr sz="4400" spc="-25" dirty="0">
                <a:latin typeface="Times New Roman"/>
                <a:cs typeface="Times New Roman"/>
              </a:rPr>
              <a:t>: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190745"/>
            <a:ext cx="7868920" cy="89725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We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assume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0.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dirty="0">
                <a:latin typeface="Times New Roman"/>
                <a:cs typeface="Times New Roman"/>
              </a:rPr>
              <a:t>Gantt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Chart: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89050" y="2203450"/>
          <a:ext cx="7086600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Sr.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Execution</a:t>
                      </a:r>
                      <a:r>
                        <a:rPr sz="1600" b="1" spc="254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Time/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Burst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Time(ms)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p0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10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4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8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4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6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685800" y="5390388"/>
            <a:ext cx="7848600" cy="582295"/>
            <a:chOff x="685800" y="5390388"/>
            <a:chExt cx="7848600" cy="582295"/>
          </a:xfrm>
        </p:grpSpPr>
        <p:sp>
          <p:nvSpPr>
            <p:cNvPr id="7" name="object 7"/>
            <p:cNvSpPr/>
            <p:nvPr/>
          </p:nvSpPr>
          <p:spPr>
            <a:xfrm>
              <a:off x="685800" y="5410200"/>
              <a:ext cx="7848600" cy="457200"/>
            </a:xfrm>
            <a:custGeom>
              <a:avLst/>
              <a:gdLst/>
              <a:ahLst/>
              <a:cxnLst/>
              <a:rect l="l" t="t" r="r" b="b"/>
              <a:pathLst>
                <a:path w="7848600" h="457200">
                  <a:moveTo>
                    <a:pt x="7848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848600" y="457200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5859" y="5390388"/>
              <a:ext cx="632485" cy="5821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2967" y="5390388"/>
              <a:ext cx="580644" cy="5821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3528" y="5390388"/>
              <a:ext cx="612686" cy="5821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55" y="5390388"/>
              <a:ext cx="620242" cy="582155"/>
            </a:xfrm>
            <a:prstGeom prst="rect">
              <a:avLst/>
            </a:prstGeom>
          </p:spPr>
        </p:pic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81005" y="5405437"/>
          <a:ext cx="7848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R="224154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P0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8994">
                        <a:lnSpc>
                          <a:spcPct val="100000"/>
                        </a:lnSpc>
                        <a:spcBef>
                          <a:spcPts val="309"/>
                        </a:spcBef>
                        <a:tabLst>
                          <a:tab pos="2962910" algn="l"/>
                        </a:tabLst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P1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439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4610100" y="5410200"/>
            <a:ext cx="40005" cy="457200"/>
          </a:xfrm>
          <a:custGeom>
            <a:avLst/>
            <a:gdLst/>
            <a:ahLst/>
            <a:cxnLst/>
            <a:rect l="l" t="t" r="r" b="b"/>
            <a:pathLst>
              <a:path w="40004" h="457200">
                <a:moveTo>
                  <a:pt x="3975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63139" y="5771388"/>
            <a:ext cx="571500" cy="58215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41829" y="5817819"/>
            <a:ext cx="2209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10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98264" y="5771388"/>
            <a:ext cx="569988" cy="58215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577334" y="5817819"/>
            <a:ext cx="219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14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69023" y="5847588"/>
            <a:ext cx="598931" cy="58215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848347" y="5894019"/>
            <a:ext cx="248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22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84464" y="5733288"/>
            <a:ext cx="524268" cy="58215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464042" y="5779719"/>
            <a:ext cx="21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2</a:t>
            </a:r>
            <a:r>
              <a:rPr sz="1200" spc="-25" dirty="0">
                <a:latin typeface="Constantia"/>
                <a:cs typeface="Constantia"/>
              </a:rPr>
              <a:t>8</a:t>
            </a:r>
            <a:endParaRPr sz="1200">
              <a:latin typeface="Constantia"/>
              <a:cs typeface="Constant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0916" y="5771388"/>
            <a:ext cx="499859" cy="58215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49325" y="5817819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0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07018" y="6540046"/>
            <a:ext cx="9842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045C75"/>
                </a:solidFill>
                <a:latin typeface="Constantia"/>
                <a:cs typeface="Constantia"/>
              </a:rPr>
              <a:t>5</a:t>
            </a:r>
            <a:endParaRPr sz="1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/>
              <a:t>FCFS</a:t>
            </a:r>
            <a:r>
              <a:rPr spc="-15" dirty="0"/>
              <a:t> </a:t>
            </a:r>
            <a:r>
              <a:rPr dirty="0"/>
              <a:t>Scheduling</a:t>
            </a:r>
            <a:r>
              <a:rPr spc="-2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21673" y="6540046"/>
            <a:ext cx="1079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045C75"/>
                </a:solidFill>
                <a:latin typeface="Constantia"/>
                <a:cs typeface="Constantia"/>
              </a:rPr>
              <a:t>6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95869"/>
            <a:ext cx="8377555" cy="458406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Time: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dirty="0">
                <a:latin typeface="Times New Roman"/>
                <a:cs typeface="Times New Roman"/>
              </a:rPr>
              <a:t>P0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P1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=14,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P2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22,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P3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=28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100" b="1" spc="-25" dirty="0">
                <a:latin typeface="Times New Roman"/>
                <a:cs typeface="Times New Roman"/>
              </a:rPr>
              <a:t>Turnaround</a:t>
            </a:r>
            <a:r>
              <a:rPr sz="2100" b="1" spc="-105" dirty="0">
                <a:latin typeface="Times New Roman"/>
                <a:cs typeface="Times New Roman"/>
              </a:rPr>
              <a:t> </a:t>
            </a:r>
            <a:r>
              <a:rPr sz="2100" b="1" spc="-40" dirty="0">
                <a:latin typeface="Times New Roman"/>
                <a:cs typeface="Times New Roman"/>
              </a:rPr>
              <a:t>Time(TAT)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=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Completion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Time(CT)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–</a:t>
            </a:r>
            <a:r>
              <a:rPr sz="2100" b="1" spc="-1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Arrival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Time(AT)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875280" algn="l"/>
              </a:tabLst>
            </a:pPr>
            <a:r>
              <a:rPr sz="2100" b="1" spc="-25" dirty="0">
                <a:latin typeface="Times New Roman"/>
                <a:cs typeface="Times New Roman"/>
              </a:rPr>
              <a:t>Turnaround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Time(TAT)</a:t>
            </a:r>
            <a:r>
              <a:rPr sz="2100" b="1" dirty="0">
                <a:latin typeface="Times New Roman"/>
                <a:cs typeface="Times New Roman"/>
              </a:rPr>
              <a:t>	of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each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process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Times New Roman"/>
                <a:cs typeface="Times New Roman"/>
              </a:rPr>
              <a:t>P0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14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22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28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28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Average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Turnaround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spc="-40" dirty="0">
                <a:latin typeface="Times New Roman"/>
                <a:cs typeface="Times New Roman"/>
              </a:rPr>
              <a:t>Time(ATAT)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Total</a:t>
            </a:r>
            <a:r>
              <a:rPr sz="1600" b="1" dirty="0">
                <a:latin typeface="Times New Roman"/>
                <a:cs typeface="Times New Roman"/>
              </a:rPr>
              <a:t> turn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around time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all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processes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/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Total </a:t>
            </a:r>
            <a:r>
              <a:rPr sz="1600" b="1" spc="-25" dirty="0">
                <a:latin typeface="Times New Roman"/>
                <a:cs typeface="Times New Roman"/>
              </a:rPr>
              <a:t>no</a:t>
            </a:r>
            <a:endParaRPr sz="1600">
              <a:latin typeface="Times New Roman"/>
              <a:cs typeface="Times New Roman"/>
            </a:endParaRPr>
          </a:p>
          <a:p>
            <a:pPr marL="923290" algn="ctr">
              <a:lnSpc>
                <a:spcPct val="100000"/>
              </a:lnSpc>
              <a:spcBef>
                <a:spcPts val="20"/>
              </a:spcBef>
            </a:pP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processes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Time(ATAT)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 </a:t>
            </a:r>
            <a:r>
              <a:rPr sz="2000" dirty="0">
                <a:latin typeface="Times New Roman"/>
                <a:cs typeface="Times New Roman"/>
              </a:rPr>
              <a:t>(10+14+22+28)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18.5</a:t>
            </a:r>
            <a:r>
              <a:rPr sz="2000" spc="-25" dirty="0">
                <a:latin typeface="Times New Roman"/>
                <a:cs typeface="Times New Roman"/>
              </a:rPr>
              <a:t> 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/>
              <a:t>FCFS</a:t>
            </a:r>
            <a:r>
              <a:rPr spc="-15" dirty="0"/>
              <a:t> </a:t>
            </a:r>
            <a:r>
              <a:rPr dirty="0"/>
              <a:t>Scheduling</a:t>
            </a:r>
            <a:r>
              <a:rPr spc="-2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70405"/>
            <a:ext cx="834263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Waiting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Time(WT)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Turnaround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Time(TAT)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Burst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Time(BT)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Waiting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Time(WT)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each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153283"/>
            <a:ext cx="14998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P0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10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14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P2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22–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P3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28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4701" y="3153283"/>
            <a:ext cx="100520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 </a:t>
            </a:r>
            <a:r>
              <a:rPr sz="2400" spc="-25" dirty="0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14 </a:t>
            </a:r>
            <a:r>
              <a:rPr sz="2400" spc="-25" dirty="0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22 </a:t>
            </a:r>
            <a:r>
              <a:rPr sz="2400" spc="-25" dirty="0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689729"/>
            <a:ext cx="8378190" cy="110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Average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Waiting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Time(AWT)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2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Total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waiting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time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all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processes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Total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  <a:p>
            <a:pPr marR="447675" algn="ctr">
              <a:lnSpc>
                <a:spcPct val="100000"/>
              </a:lnSpc>
              <a:spcBef>
                <a:spcPts val="20"/>
              </a:spcBef>
            </a:pPr>
            <a:r>
              <a:rPr sz="1800" b="1" spc="-10" dirty="0">
                <a:latin typeface="Times New Roman"/>
                <a:cs typeface="Times New Roman"/>
              </a:rPr>
              <a:t>processes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Waiting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Time(AWT)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(0+10+14+22)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11.5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/>
              <a:t>FCFS</a:t>
            </a:r>
            <a:r>
              <a:rPr spc="-15" dirty="0"/>
              <a:t> </a:t>
            </a:r>
            <a:r>
              <a:rPr dirty="0"/>
              <a:t>Scheduling</a:t>
            </a:r>
            <a:r>
              <a:rPr spc="-2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543252"/>
            <a:ext cx="20243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Example-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2: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4167004"/>
            <a:ext cx="3427095" cy="9531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Arrival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given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800" spc="-10" dirty="0">
                <a:latin typeface="Constantia"/>
                <a:cs typeface="Constantia"/>
              </a:rPr>
              <a:t>Gantt</a:t>
            </a:r>
            <a:r>
              <a:rPr sz="2800" spc="-14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Chart:</a:t>
            </a:r>
            <a:endParaRPr sz="2800">
              <a:latin typeface="Constantia"/>
              <a:cs typeface="Constant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9450" y="2127250"/>
          <a:ext cx="7392033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Sr.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Arrival</a:t>
                      </a:r>
                      <a:r>
                        <a:rPr sz="1600" b="1" spc="28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Execution</a:t>
                      </a:r>
                      <a:r>
                        <a:rPr sz="1600" b="1" spc="254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Time/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Burst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Time(ms)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5" dirty="0">
                          <a:latin typeface="Constantia"/>
                          <a:cs typeface="Constantia"/>
                        </a:rPr>
                        <a:t>p0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5" dirty="0">
                          <a:latin typeface="Constantia"/>
                          <a:cs typeface="Constantia"/>
                        </a:rPr>
                        <a:t>p1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5" dirty="0">
                          <a:latin typeface="Constantia"/>
                          <a:cs typeface="Constantia"/>
                        </a:rPr>
                        <a:t>p2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5" dirty="0">
                          <a:latin typeface="Constantia"/>
                          <a:cs typeface="Constantia"/>
                        </a:rPr>
                        <a:t>p3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685800" y="5390388"/>
            <a:ext cx="7848600" cy="582295"/>
            <a:chOff x="685800" y="5390388"/>
            <a:chExt cx="7848600" cy="582295"/>
          </a:xfrm>
        </p:grpSpPr>
        <p:sp>
          <p:nvSpPr>
            <p:cNvPr id="7" name="object 7"/>
            <p:cNvSpPr/>
            <p:nvPr/>
          </p:nvSpPr>
          <p:spPr>
            <a:xfrm>
              <a:off x="685800" y="5410200"/>
              <a:ext cx="7848600" cy="457200"/>
            </a:xfrm>
            <a:custGeom>
              <a:avLst/>
              <a:gdLst/>
              <a:ahLst/>
              <a:cxnLst/>
              <a:rect l="l" t="t" r="r" b="b"/>
              <a:pathLst>
                <a:path w="7848600" h="457200">
                  <a:moveTo>
                    <a:pt x="7848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848600" y="457200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5859" y="5390388"/>
              <a:ext cx="632485" cy="5821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7727" y="5390388"/>
              <a:ext cx="612686" cy="5821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8956" y="5390388"/>
              <a:ext cx="620242" cy="5821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6567" y="5390388"/>
              <a:ext cx="580643" cy="582155"/>
            </a:xfrm>
            <a:prstGeom prst="rect">
              <a:avLst/>
            </a:prstGeom>
          </p:spPr>
        </p:pic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81005" y="5405437"/>
          <a:ext cx="7848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R="224154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P0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3755">
                        <a:lnSpc>
                          <a:spcPct val="100000"/>
                        </a:lnSpc>
                        <a:spcBef>
                          <a:spcPts val="309"/>
                        </a:spcBef>
                        <a:tabLst>
                          <a:tab pos="2982595" algn="l"/>
                        </a:tabLst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P3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9944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4610100" y="5410200"/>
            <a:ext cx="40005" cy="457200"/>
          </a:xfrm>
          <a:custGeom>
            <a:avLst/>
            <a:gdLst/>
            <a:ahLst/>
            <a:cxnLst/>
            <a:rect l="l" t="t" r="r" b="b"/>
            <a:pathLst>
              <a:path w="40004" h="457200">
                <a:moveTo>
                  <a:pt x="3975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07335" y="5771388"/>
            <a:ext cx="484670" cy="58215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86025" y="5817819"/>
            <a:ext cx="134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15611" y="5733288"/>
            <a:ext cx="487692" cy="58215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694682" y="577971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7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58940" y="5771388"/>
            <a:ext cx="571500" cy="58215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938518" y="5817819"/>
            <a:ext cx="2209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10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90559" y="5733288"/>
            <a:ext cx="556234" cy="58215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470138" y="5779719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17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0916" y="5733288"/>
            <a:ext cx="499859" cy="58215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49325" y="5779719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0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/>
              <a:t>FCFS</a:t>
            </a:r>
            <a:r>
              <a:rPr spc="-15" dirty="0"/>
              <a:t> </a:t>
            </a:r>
            <a:r>
              <a:rPr dirty="0"/>
              <a:t>Scheduling</a:t>
            </a:r>
            <a:r>
              <a:rPr spc="-2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95869"/>
            <a:ext cx="8375015" cy="458406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Time: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dirty="0">
                <a:latin typeface="Times New Roman"/>
                <a:cs typeface="Times New Roman"/>
              </a:rPr>
              <a:t>P0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P1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=10,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P2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17,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P3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=7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100" b="1" spc="-25" dirty="0">
                <a:latin typeface="Times New Roman"/>
                <a:cs typeface="Times New Roman"/>
              </a:rPr>
              <a:t>Turnaround</a:t>
            </a:r>
            <a:r>
              <a:rPr sz="2100" b="1" spc="-105" dirty="0">
                <a:latin typeface="Times New Roman"/>
                <a:cs typeface="Times New Roman"/>
              </a:rPr>
              <a:t> </a:t>
            </a:r>
            <a:r>
              <a:rPr sz="2100" b="1" spc="-40" dirty="0">
                <a:latin typeface="Times New Roman"/>
                <a:cs typeface="Times New Roman"/>
              </a:rPr>
              <a:t>Time(TAT)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=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Completion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Time(CT)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–</a:t>
            </a:r>
            <a:r>
              <a:rPr sz="2100" b="1" spc="-1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Arrival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Time(AT)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875280" algn="l"/>
              </a:tabLst>
            </a:pPr>
            <a:r>
              <a:rPr sz="2100" b="1" spc="-25" dirty="0">
                <a:latin typeface="Times New Roman"/>
                <a:cs typeface="Times New Roman"/>
              </a:rPr>
              <a:t>Turnaround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Time(TAT)</a:t>
            </a:r>
            <a:r>
              <a:rPr sz="2100" b="1" dirty="0">
                <a:latin typeface="Times New Roman"/>
                <a:cs typeface="Times New Roman"/>
              </a:rPr>
              <a:t>	of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each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process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1176655" algn="l"/>
              </a:tabLst>
            </a:pPr>
            <a:r>
              <a:rPr sz="2000" dirty="0">
                <a:latin typeface="Times New Roman"/>
                <a:cs typeface="Times New Roman"/>
              </a:rPr>
              <a:t>P0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	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17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11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76655" algn="l"/>
              </a:tabLst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	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Average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Turnaround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Time(ATAT)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Total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turn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around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time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all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processes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/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Total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no</a:t>
            </a:r>
            <a:endParaRPr sz="1600">
              <a:latin typeface="Times New Roman"/>
              <a:cs typeface="Times New Roman"/>
            </a:endParaRPr>
          </a:p>
          <a:p>
            <a:pPr marL="685165" algn="ctr">
              <a:lnSpc>
                <a:spcPct val="100000"/>
              </a:lnSpc>
              <a:spcBef>
                <a:spcPts val="20"/>
              </a:spcBef>
            </a:pP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processes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Time(ATAT)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(5+6+11+5)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6.75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/>
              <a:t>FCFS</a:t>
            </a:r>
            <a:r>
              <a:rPr spc="-15" dirty="0"/>
              <a:t> </a:t>
            </a:r>
            <a:r>
              <a:rPr dirty="0"/>
              <a:t>Scheduling</a:t>
            </a:r>
            <a:r>
              <a:rPr spc="-2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70405"/>
            <a:ext cx="834263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Waiting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Time(WT)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Turnaround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Time(TAT)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Burst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Time(BT)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Waiting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Time(WT)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each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153283"/>
            <a:ext cx="12585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P0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6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P2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11–</a:t>
            </a:r>
            <a:r>
              <a:rPr sz="2400" spc="-50" dirty="0">
                <a:latin typeface="Times New Roman"/>
                <a:cs typeface="Times New Roman"/>
              </a:rPr>
              <a:t> 7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P3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7710" y="3153283"/>
            <a:ext cx="86423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 </a:t>
            </a:r>
            <a:r>
              <a:rPr sz="2400" spc="-25" dirty="0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 4 </a:t>
            </a:r>
            <a:r>
              <a:rPr sz="2400" spc="-25" dirty="0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 </a:t>
            </a:r>
            <a:r>
              <a:rPr sz="2400" spc="-25" dirty="0">
                <a:latin typeface="Times New Roman"/>
                <a:cs typeface="Times New Roman"/>
              </a:rPr>
              <a:t>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689729"/>
            <a:ext cx="8378190" cy="110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Average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Waiting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Time(AWT)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2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Total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waiting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time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all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processes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Total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  <a:p>
            <a:pPr marR="447675" algn="ctr">
              <a:lnSpc>
                <a:spcPct val="100000"/>
              </a:lnSpc>
              <a:spcBef>
                <a:spcPts val="20"/>
              </a:spcBef>
            </a:pPr>
            <a:r>
              <a:rPr sz="1800" b="1" spc="-10" dirty="0">
                <a:latin typeface="Times New Roman"/>
                <a:cs typeface="Times New Roman"/>
              </a:rPr>
              <a:t>processes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Waiting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Time(AWT)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(0+3+4+3)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2.5</a:t>
            </a:r>
            <a:r>
              <a:rPr sz="2000" spc="-25" dirty="0">
                <a:latin typeface="Times New Roman"/>
                <a:cs typeface="Times New Roman"/>
              </a:rPr>
              <a:t> 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7540">
              <a:lnSpc>
                <a:spcPct val="100000"/>
              </a:lnSpc>
              <a:spcBef>
                <a:spcPts val="105"/>
              </a:spcBef>
            </a:pPr>
            <a:r>
              <a:rPr dirty="0"/>
              <a:t>SJF</a:t>
            </a:r>
            <a:r>
              <a:rPr spc="-170" dirty="0"/>
              <a:t> </a:t>
            </a:r>
            <a:r>
              <a:rPr dirty="0"/>
              <a:t>Scheduling</a:t>
            </a:r>
            <a:r>
              <a:rPr spc="-254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80881" y="6555667"/>
            <a:ext cx="120014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11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71930"/>
            <a:ext cx="8378190" cy="2099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latin typeface="Times New Roman"/>
                <a:cs typeface="Times New Roman"/>
              </a:rPr>
              <a:t>Shortest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scheduling(SJF)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shortest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burst</a:t>
            </a:r>
            <a:endParaRPr sz="20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latin typeface="Times New Roman"/>
                <a:cs typeface="Times New Roman"/>
              </a:rPr>
              <a:t>SJF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approach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minimize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42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latin typeface="Constantia"/>
                <a:cs typeface="Constantia"/>
              </a:rPr>
              <a:t>SJF</a:t>
            </a:r>
            <a:r>
              <a:rPr sz="2000" spc="-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is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a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Greedy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Algorithm.</a:t>
            </a:r>
            <a:endParaRPr sz="2000">
              <a:latin typeface="Constantia"/>
              <a:cs typeface="Constantia"/>
            </a:endParaRPr>
          </a:p>
          <a:p>
            <a:pPr marL="285115" indent="-272415">
              <a:lnSpc>
                <a:spcPct val="100000"/>
              </a:lnSpc>
              <a:spcBef>
                <a:spcPts val="49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latin typeface="Constantia"/>
                <a:cs typeface="Constantia"/>
              </a:rPr>
              <a:t>In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case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of</a:t>
            </a:r>
            <a:r>
              <a:rPr sz="2000" spc="-2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a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tie,</a:t>
            </a:r>
            <a:r>
              <a:rPr sz="2000" spc="-3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it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is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broken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by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FCFS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scheduling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algorithm.</a:t>
            </a:r>
            <a:endParaRPr sz="2000">
              <a:latin typeface="Constantia"/>
              <a:cs typeface="Constantia"/>
            </a:endParaRPr>
          </a:p>
          <a:p>
            <a:pPr marL="285115" indent="-272415">
              <a:lnSpc>
                <a:spcPct val="100000"/>
              </a:lnSpc>
              <a:spcBef>
                <a:spcPts val="52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latin typeface="Times New Roman"/>
                <a:cs typeface="Times New Roman"/>
              </a:rPr>
              <a:t>Predicting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schedule: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6890" y="4012337"/>
          <a:ext cx="8044814" cy="195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3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305">
                <a:tc gridSpan="2">
                  <a:txBody>
                    <a:bodyPr/>
                    <a:lstStyle/>
                    <a:p>
                      <a:pPr marL="779780">
                        <a:lnSpc>
                          <a:spcPts val="21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t(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n+1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2120"/>
                        </a:lnSpc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4810">
                        <a:lnSpc>
                          <a:spcPts val="21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t(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ts val="2120"/>
                        </a:lnSpc>
                        <a:tabLst>
                          <a:tab pos="1438910" algn="l"/>
                        </a:tabLst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	*</a:t>
                      </a: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T(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51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Here: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t(n+1)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t(n)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0805" marR="475615">
                        <a:lnSpc>
                          <a:spcPct val="140000"/>
                        </a:lnSpc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T(n)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/>
                </a:tc>
                <a:tc gridSpan="3"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burst.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4351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burst.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4351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average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bursts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43510">
                        <a:lnSpc>
                          <a:spcPts val="2335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 weighting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factor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emphasizing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bursts.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059" y="732790"/>
            <a:ext cx="7679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Types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75" dirty="0"/>
              <a:t> </a:t>
            </a:r>
            <a:r>
              <a:rPr sz="4000" dirty="0"/>
              <a:t>SJF</a:t>
            </a:r>
            <a:r>
              <a:rPr sz="4000" spc="-215" dirty="0"/>
              <a:t> </a:t>
            </a:r>
            <a:r>
              <a:rPr sz="4000" spc="-20" dirty="0"/>
              <a:t>Scheduling</a:t>
            </a:r>
            <a:r>
              <a:rPr sz="4000" spc="-229" dirty="0"/>
              <a:t> </a:t>
            </a:r>
            <a:r>
              <a:rPr sz="4000" spc="-10" dirty="0"/>
              <a:t>Algorithm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744366" y="2515361"/>
            <a:ext cx="5048250" cy="1067435"/>
            <a:chOff x="1744366" y="2515361"/>
            <a:chExt cx="5048250" cy="1067435"/>
          </a:xfrm>
        </p:grpSpPr>
        <p:sp>
          <p:nvSpPr>
            <p:cNvPr id="4" name="object 4"/>
            <p:cNvSpPr/>
            <p:nvPr/>
          </p:nvSpPr>
          <p:spPr>
            <a:xfrm>
              <a:off x="1829561" y="2972561"/>
              <a:ext cx="4876800" cy="1905"/>
            </a:xfrm>
            <a:custGeom>
              <a:avLst/>
              <a:gdLst/>
              <a:ahLst/>
              <a:cxnLst/>
              <a:rect l="l" t="t" r="r" b="b"/>
              <a:pathLst>
                <a:path w="4876800" h="1905">
                  <a:moveTo>
                    <a:pt x="0" y="0"/>
                  </a:moveTo>
                  <a:lnTo>
                    <a:pt x="4876799" y="16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4357" y="2515361"/>
              <a:ext cx="5048250" cy="1067435"/>
            </a:xfrm>
            <a:custGeom>
              <a:avLst/>
              <a:gdLst/>
              <a:ahLst/>
              <a:cxnLst/>
              <a:rect l="l" t="t" r="r" b="b"/>
              <a:pathLst>
                <a:path w="5048250" h="1067435">
                  <a:moveTo>
                    <a:pt x="171107" y="917448"/>
                  </a:moveTo>
                  <a:lnTo>
                    <a:pt x="170649" y="910170"/>
                  </a:lnTo>
                  <a:lnTo>
                    <a:pt x="167513" y="903579"/>
                  </a:lnTo>
                  <a:lnTo>
                    <a:pt x="161912" y="898525"/>
                  </a:lnTo>
                  <a:lnTo>
                    <a:pt x="154787" y="896061"/>
                  </a:lnTo>
                  <a:lnTo>
                    <a:pt x="147510" y="896518"/>
                  </a:lnTo>
                  <a:lnTo>
                    <a:pt x="140919" y="899655"/>
                  </a:lnTo>
                  <a:lnTo>
                    <a:pt x="135877" y="905256"/>
                  </a:lnTo>
                  <a:lnTo>
                    <a:pt x="104559" y="958570"/>
                  </a:lnTo>
                  <a:lnTo>
                    <a:pt x="105905" y="457200"/>
                  </a:lnTo>
                  <a:lnTo>
                    <a:pt x="67805" y="457200"/>
                  </a:lnTo>
                  <a:lnTo>
                    <a:pt x="66624" y="895705"/>
                  </a:lnTo>
                  <a:lnTo>
                    <a:pt x="66598" y="909688"/>
                  </a:lnTo>
                  <a:lnTo>
                    <a:pt x="66471" y="958570"/>
                  </a:lnTo>
                  <a:lnTo>
                    <a:pt x="66370" y="991209"/>
                  </a:lnTo>
                  <a:lnTo>
                    <a:pt x="66459" y="958570"/>
                  </a:lnTo>
                  <a:lnTo>
                    <a:pt x="35420" y="905002"/>
                  </a:lnTo>
                  <a:lnTo>
                    <a:pt x="30378" y="899388"/>
                  </a:lnTo>
                  <a:lnTo>
                    <a:pt x="23825" y="896200"/>
                  </a:lnTo>
                  <a:lnTo>
                    <a:pt x="16560" y="895705"/>
                  </a:lnTo>
                  <a:lnTo>
                    <a:pt x="9385" y="898144"/>
                  </a:lnTo>
                  <a:lnTo>
                    <a:pt x="3695" y="903135"/>
                  </a:lnTo>
                  <a:lnTo>
                    <a:pt x="508" y="909688"/>
                  </a:lnTo>
                  <a:lnTo>
                    <a:pt x="0" y="916990"/>
                  </a:lnTo>
                  <a:lnTo>
                    <a:pt x="2400" y="924179"/>
                  </a:lnTo>
                  <a:lnTo>
                    <a:pt x="85204" y="1066927"/>
                  </a:lnTo>
                  <a:lnTo>
                    <a:pt x="107378" y="1029081"/>
                  </a:lnTo>
                  <a:lnTo>
                    <a:pt x="168643" y="924560"/>
                  </a:lnTo>
                  <a:lnTo>
                    <a:pt x="171107" y="917448"/>
                  </a:lnTo>
                  <a:close/>
                </a:path>
                <a:path w="5048250" h="1067435">
                  <a:moveTo>
                    <a:pt x="2685377" y="307644"/>
                  </a:moveTo>
                  <a:lnTo>
                    <a:pt x="2684894" y="300329"/>
                  </a:lnTo>
                  <a:lnTo>
                    <a:pt x="2681732" y="293725"/>
                  </a:lnTo>
                  <a:lnTo>
                    <a:pt x="2676131" y="288671"/>
                  </a:lnTo>
                  <a:lnTo>
                    <a:pt x="2668930" y="286283"/>
                  </a:lnTo>
                  <a:lnTo>
                    <a:pt x="2661615" y="286766"/>
                  </a:lnTo>
                  <a:lnTo>
                    <a:pt x="2655011" y="289928"/>
                  </a:lnTo>
                  <a:lnTo>
                    <a:pt x="2649969" y="295529"/>
                  </a:lnTo>
                  <a:lnTo>
                    <a:pt x="2618854" y="348869"/>
                  </a:lnTo>
                  <a:lnTo>
                    <a:pt x="2618854" y="0"/>
                  </a:lnTo>
                  <a:lnTo>
                    <a:pt x="2580754" y="0"/>
                  </a:lnTo>
                  <a:lnTo>
                    <a:pt x="2580754" y="348869"/>
                  </a:lnTo>
                  <a:lnTo>
                    <a:pt x="2549639" y="295529"/>
                  </a:lnTo>
                  <a:lnTo>
                    <a:pt x="2544584" y="289928"/>
                  </a:lnTo>
                  <a:lnTo>
                    <a:pt x="2537980" y="286766"/>
                  </a:lnTo>
                  <a:lnTo>
                    <a:pt x="2530665" y="286283"/>
                  </a:lnTo>
                  <a:lnTo>
                    <a:pt x="2523477" y="288671"/>
                  </a:lnTo>
                  <a:lnTo>
                    <a:pt x="2517864" y="293725"/>
                  </a:lnTo>
                  <a:lnTo>
                    <a:pt x="2514714" y="300329"/>
                  </a:lnTo>
                  <a:lnTo>
                    <a:pt x="2514219" y="307644"/>
                  </a:lnTo>
                  <a:lnTo>
                    <a:pt x="2516619" y="314833"/>
                  </a:lnTo>
                  <a:lnTo>
                    <a:pt x="2599804" y="457327"/>
                  </a:lnTo>
                  <a:lnTo>
                    <a:pt x="2621889" y="419481"/>
                  </a:lnTo>
                  <a:lnTo>
                    <a:pt x="2682989" y="314833"/>
                  </a:lnTo>
                  <a:lnTo>
                    <a:pt x="2685377" y="307644"/>
                  </a:lnTo>
                  <a:close/>
                </a:path>
                <a:path w="5048250" h="1067435">
                  <a:moveTo>
                    <a:pt x="5047907" y="917448"/>
                  </a:moveTo>
                  <a:lnTo>
                    <a:pt x="5047450" y="910170"/>
                  </a:lnTo>
                  <a:lnTo>
                    <a:pt x="5044313" y="903579"/>
                  </a:lnTo>
                  <a:lnTo>
                    <a:pt x="5038712" y="898525"/>
                  </a:lnTo>
                  <a:lnTo>
                    <a:pt x="5031587" y="896061"/>
                  </a:lnTo>
                  <a:lnTo>
                    <a:pt x="5024310" y="896518"/>
                  </a:lnTo>
                  <a:lnTo>
                    <a:pt x="5017719" y="899655"/>
                  </a:lnTo>
                  <a:lnTo>
                    <a:pt x="5012677" y="905256"/>
                  </a:lnTo>
                  <a:lnTo>
                    <a:pt x="4981359" y="958570"/>
                  </a:lnTo>
                  <a:lnTo>
                    <a:pt x="4982705" y="457200"/>
                  </a:lnTo>
                  <a:lnTo>
                    <a:pt x="4944605" y="457200"/>
                  </a:lnTo>
                  <a:lnTo>
                    <a:pt x="4943424" y="895705"/>
                  </a:lnTo>
                  <a:lnTo>
                    <a:pt x="4943399" y="909688"/>
                  </a:lnTo>
                  <a:lnTo>
                    <a:pt x="4943272" y="958570"/>
                  </a:lnTo>
                  <a:lnTo>
                    <a:pt x="4943170" y="991209"/>
                  </a:lnTo>
                  <a:lnTo>
                    <a:pt x="4943259" y="958570"/>
                  </a:lnTo>
                  <a:lnTo>
                    <a:pt x="4912220" y="905002"/>
                  </a:lnTo>
                  <a:lnTo>
                    <a:pt x="4907178" y="899388"/>
                  </a:lnTo>
                  <a:lnTo>
                    <a:pt x="4900625" y="896200"/>
                  </a:lnTo>
                  <a:lnTo>
                    <a:pt x="4893361" y="895705"/>
                  </a:lnTo>
                  <a:lnTo>
                    <a:pt x="4886185" y="898144"/>
                  </a:lnTo>
                  <a:lnTo>
                    <a:pt x="4880495" y="903135"/>
                  </a:lnTo>
                  <a:lnTo>
                    <a:pt x="4877308" y="909688"/>
                  </a:lnTo>
                  <a:lnTo>
                    <a:pt x="4876800" y="916990"/>
                  </a:lnTo>
                  <a:lnTo>
                    <a:pt x="4879187" y="924179"/>
                  </a:lnTo>
                  <a:lnTo>
                    <a:pt x="4962004" y="1066927"/>
                  </a:lnTo>
                  <a:lnTo>
                    <a:pt x="4984178" y="1029081"/>
                  </a:lnTo>
                  <a:lnTo>
                    <a:pt x="5045443" y="924560"/>
                  </a:lnTo>
                  <a:lnTo>
                    <a:pt x="5047907" y="917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37938" y="3760089"/>
            <a:ext cx="3815715" cy="1297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5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SJF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scheduling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SJF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scheduling</a:t>
            </a:r>
            <a:endParaRPr sz="1800">
              <a:latin typeface="Times New Roman"/>
              <a:cs typeface="Times New Roman"/>
            </a:endParaRPr>
          </a:p>
          <a:p>
            <a:pPr marL="186055" marR="185420" indent="838200">
              <a:lnSpc>
                <a:spcPts val="2640"/>
              </a:lnSpc>
              <a:spcBef>
                <a:spcPts val="80"/>
              </a:spcBef>
            </a:pPr>
            <a:r>
              <a:rPr sz="2200" dirty="0">
                <a:solidFill>
                  <a:srgbClr val="FF9900"/>
                </a:solidFill>
                <a:latin typeface="Times New Roman"/>
                <a:cs typeface="Times New Roman"/>
              </a:rPr>
              <a:t>Preemptive</a:t>
            </a:r>
            <a:r>
              <a:rPr sz="2200" spc="-10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9900"/>
                </a:solidFill>
                <a:latin typeface="Times New Roman"/>
                <a:cs typeface="Times New Roman"/>
              </a:rPr>
              <a:t>SJF </a:t>
            </a:r>
            <a:r>
              <a:rPr sz="2200" dirty="0">
                <a:solidFill>
                  <a:srgbClr val="FF9900"/>
                </a:solidFill>
                <a:latin typeface="Times New Roman"/>
                <a:cs typeface="Times New Roman"/>
              </a:rPr>
              <a:t>Shortest</a:t>
            </a:r>
            <a:r>
              <a:rPr sz="2200" spc="-114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9900"/>
                </a:solidFill>
                <a:latin typeface="Times New Roman"/>
                <a:cs typeface="Times New Roman"/>
              </a:rPr>
              <a:t>Remaining</a:t>
            </a:r>
            <a:r>
              <a:rPr sz="2200" spc="-12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9900"/>
                </a:solidFill>
                <a:latin typeface="Times New Roman"/>
                <a:cs typeface="Times New Roman"/>
              </a:rPr>
              <a:t>Time</a:t>
            </a:r>
            <a:r>
              <a:rPr sz="2200" spc="-10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9900"/>
                </a:solidFill>
                <a:latin typeface="Times New Roman"/>
                <a:cs typeface="Times New Roman"/>
              </a:rPr>
              <a:t>First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ts val="2505"/>
              </a:lnSpc>
            </a:pPr>
            <a:r>
              <a:rPr sz="2200" spc="-10" dirty="0">
                <a:solidFill>
                  <a:srgbClr val="FF9900"/>
                </a:solidFill>
                <a:latin typeface="Times New Roman"/>
                <a:cs typeface="Times New Roman"/>
              </a:rPr>
              <a:t>(SRTF)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07373" y="6463846"/>
            <a:ext cx="1460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12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7677" y="1700530"/>
            <a:ext cx="6484620" cy="1597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3225" indent="-272415">
              <a:lnSpc>
                <a:spcPts val="2225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403225" algn="l"/>
              </a:tabLst>
            </a:pPr>
            <a:r>
              <a:rPr sz="2000" dirty="0">
                <a:latin typeface="Times New Roman"/>
                <a:cs typeface="Times New Roman"/>
              </a:rPr>
              <a:t>SJF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scheduling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algorithm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categorized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parts.</a:t>
            </a:r>
            <a:endParaRPr sz="2000">
              <a:latin typeface="Times New Roman"/>
              <a:cs typeface="Times New Roman"/>
            </a:endParaRPr>
          </a:p>
          <a:p>
            <a:pPr marL="2070100">
              <a:lnSpc>
                <a:spcPts val="194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SJF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scheduling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SJF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scheduling</a:t>
            </a:r>
            <a:endParaRPr sz="1800">
              <a:latin typeface="Times New Roman"/>
              <a:cs typeface="Times New Roman"/>
            </a:endParaRPr>
          </a:p>
          <a:p>
            <a:pPr marL="2405380">
              <a:lnSpc>
                <a:spcPts val="2840"/>
              </a:lnSpc>
            </a:pPr>
            <a:r>
              <a:rPr sz="2400" dirty="0">
                <a:solidFill>
                  <a:srgbClr val="CC3300"/>
                </a:solidFill>
                <a:latin typeface="Times New Roman"/>
                <a:cs typeface="Times New Roman"/>
              </a:rPr>
              <a:t>SJF</a:t>
            </a:r>
            <a:r>
              <a:rPr sz="2400" spc="-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3300"/>
                </a:solidFill>
                <a:latin typeface="Times New Roman"/>
                <a:cs typeface="Times New Roman"/>
              </a:rPr>
              <a:t>scheduling</a:t>
            </a:r>
            <a:r>
              <a:rPr sz="2400" spc="-4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C3300"/>
                </a:solidFill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11480" algn="l"/>
              </a:tabLst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SJ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	scheduling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SJF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scheduling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3406" y="3935348"/>
            <a:ext cx="2362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FF9900"/>
                </a:solidFill>
                <a:latin typeface="Times New Roman"/>
                <a:cs typeface="Times New Roman"/>
              </a:rPr>
              <a:t>Non-</a:t>
            </a:r>
            <a:r>
              <a:rPr sz="2200" dirty="0">
                <a:solidFill>
                  <a:srgbClr val="FF9900"/>
                </a:solidFill>
                <a:latin typeface="Times New Roman"/>
                <a:cs typeface="Times New Roman"/>
              </a:rPr>
              <a:t>Preemptive</a:t>
            </a:r>
            <a:r>
              <a:rPr sz="2200" spc="-50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9900"/>
                </a:solidFill>
                <a:latin typeface="Times New Roman"/>
                <a:cs typeface="Times New Roman"/>
              </a:rPr>
              <a:t>SJF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0604" y="668782"/>
            <a:ext cx="68821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SJF</a:t>
            </a:r>
            <a:r>
              <a:rPr sz="4800" spc="-204" dirty="0"/>
              <a:t> </a:t>
            </a:r>
            <a:r>
              <a:rPr sz="4800" spc="-25" dirty="0"/>
              <a:t>Scheduling</a:t>
            </a:r>
            <a:r>
              <a:rPr sz="4800" spc="-260" dirty="0"/>
              <a:t> </a:t>
            </a:r>
            <a:r>
              <a:rPr sz="4800" spc="-10" dirty="0"/>
              <a:t>Algorithm</a:t>
            </a:r>
            <a:endParaRPr sz="4800"/>
          </a:p>
        </p:txBody>
      </p:sp>
      <p:sp>
        <p:nvSpPr>
          <p:cNvPr id="5" name="object 5"/>
          <p:cNvSpPr txBox="1"/>
          <p:nvPr/>
        </p:nvSpPr>
        <p:spPr>
          <a:xfrm>
            <a:off x="8711945" y="6463846"/>
            <a:ext cx="13906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13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1282"/>
            <a:ext cx="8075930" cy="3830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4955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7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SJF</a:t>
            </a:r>
            <a:r>
              <a:rPr sz="2600" spc="7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algorithm</a:t>
            </a:r>
            <a:r>
              <a:rPr sz="2600" spc="7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may</a:t>
            </a:r>
            <a:r>
              <a:rPr sz="2600" spc="7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6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either</a:t>
            </a:r>
            <a:r>
              <a:rPr sz="2600" spc="7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preemptive</a:t>
            </a:r>
            <a:r>
              <a:rPr sz="2600" spc="7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65" dirty="0">
                <a:latin typeface="Times New Roman"/>
                <a:cs typeface="Times New Roman"/>
              </a:rPr>
              <a:t>  </a:t>
            </a:r>
            <a:r>
              <a:rPr sz="2600" spc="-20" dirty="0">
                <a:latin typeface="Times New Roman"/>
                <a:cs typeface="Times New Roman"/>
              </a:rPr>
              <a:t>non- </a:t>
            </a:r>
            <a:r>
              <a:rPr sz="2600" spc="-10" dirty="0">
                <a:latin typeface="Times New Roman"/>
                <a:cs typeface="Times New Roman"/>
              </a:rPr>
              <a:t>preemptive</a:t>
            </a:r>
            <a:endParaRPr sz="2600">
              <a:latin typeface="Times New Roman"/>
              <a:cs typeface="Times New Roman"/>
            </a:endParaRPr>
          </a:p>
          <a:p>
            <a:pPr marL="285115" marR="8890" indent="-274955" algn="just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preemptive</a:t>
            </a:r>
            <a:r>
              <a:rPr sz="2600" spc="4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SJF</a:t>
            </a:r>
            <a:r>
              <a:rPr sz="2600" spc="48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will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preempt</a:t>
            </a:r>
            <a:r>
              <a:rPr sz="2600" spc="48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4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currently</a:t>
            </a:r>
            <a:r>
              <a:rPr sz="2600" spc="48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executing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starts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execution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newly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entered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process.</a:t>
            </a:r>
            <a:endParaRPr sz="2600">
              <a:latin typeface="Times New Roman"/>
              <a:cs typeface="Times New Roman"/>
            </a:endParaRPr>
          </a:p>
          <a:p>
            <a:pPr marL="285115" marR="5080" indent="-274955" algn="just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Nonpreemptive</a:t>
            </a:r>
            <a:r>
              <a:rPr sz="2600" spc="6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SJF</a:t>
            </a:r>
            <a:r>
              <a:rPr sz="2600" spc="6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will</a:t>
            </a:r>
            <a:r>
              <a:rPr sz="2600" spc="5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allow</a:t>
            </a:r>
            <a:r>
              <a:rPr sz="2600" spc="6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6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currently</a:t>
            </a:r>
            <a:r>
              <a:rPr sz="2600" spc="65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executing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complete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burst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without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interruption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execution.</a:t>
            </a:r>
            <a:endParaRPr sz="2600">
              <a:latin typeface="Times New Roman"/>
              <a:cs typeface="Times New Roman"/>
            </a:endParaRPr>
          </a:p>
          <a:p>
            <a:pPr marL="285115" marR="9525" indent="-274955" algn="just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Preemptive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SJF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scheduling</a:t>
            </a:r>
            <a:r>
              <a:rPr sz="2600" spc="2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sometimes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called</a:t>
            </a:r>
            <a:r>
              <a:rPr sz="2600" spc="3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Shortest- Remaining-</a:t>
            </a:r>
            <a:r>
              <a:rPr sz="2600" spc="-25" dirty="0">
                <a:latin typeface="Times New Roman"/>
                <a:cs typeface="Times New Roman"/>
              </a:rPr>
              <a:t>Time-</a:t>
            </a:r>
            <a:r>
              <a:rPr sz="2600" dirty="0">
                <a:latin typeface="Times New Roman"/>
                <a:cs typeface="Times New Roman"/>
              </a:rPr>
              <a:t>First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(SRTF)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scheduling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31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Nonpreemptive</a:t>
            </a:r>
            <a:r>
              <a:rPr sz="3200" spc="-35" dirty="0"/>
              <a:t> </a:t>
            </a:r>
            <a:r>
              <a:rPr sz="3200" dirty="0"/>
              <a:t>SJF</a:t>
            </a:r>
            <a:r>
              <a:rPr sz="3200" spc="-110" dirty="0"/>
              <a:t> </a:t>
            </a:r>
            <a:r>
              <a:rPr sz="3200" spc="-10" dirty="0"/>
              <a:t>Scheduling</a:t>
            </a:r>
            <a:r>
              <a:rPr sz="3200" spc="-185" dirty="0"/>
              <a:t> </a:t>
            </a:r>
            <a:r>
              <a:rPr sz="3200" spc="-10" dirty="0"/>
              <a:t>Algorithm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3684498"/>
            <a:ext cx="7868920" cy="7416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We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assume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0.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000" dirty="0">
                <a:latin typeface="Constantia"/>
                <a:cs typeface="Constantia"/>
              </a:rPr>
              <a:t>Gantt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Chart:</a:t>
            </a:r>
            <a:endParaRPr sz="2000">
              <a:latin typeface="Constantia"/>
              <a:cs typeface="Constant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12850" y="1365250"/>
          <a:ext cx="70866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Sr.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Execution</a:t>
                      </a:r>
                      <a:r>
                        <a:rPr sz="1600" b="1" spc="254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Time/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Burst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Time(ms)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p0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10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4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8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4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onstantia"/>
                          <a:cs typeface="Constantia"/>
                        </a:rPr>
                        <a:t>6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47700" y="4629911"/>
            <a:ext cx="7848600" cy="626745"/>
            <a:chOff x="647700" y="4629911"/>
            <a:chExt cx="7848600" cy="626745"/>
          </a:xfrm>
        </p:grpSpPr>
        <p:sp>
          <p:nvSpPr>
            <p:cNvPr id="6" name="object 6"/>
            <p:cNvSpPr/>
            <p:nvPr/>
          </p:nvSpPr>
          <p:spPr>
            <a:xfrm>
              <a:off x="647700" y="4629911"/>
              <a:ext cx="7848600" cy="457200"/>
            </a:xfrm>
            <a:custGeom>
              <a:avLst/>
              <a:gdLst/>
              <a:ahLst/>
              <a:cxnLst/>
              <a:rect l="l" t="t" r="r" b="b"/>
              <a:pathLst>
                <a:path w="7848600" h="457200">
                  <a:moveTo>
                    <a:pt x="7848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848600" y="457200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1768" y="4669548"/>
              <a:ext cx="580644" cy="5821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7727" y="4674120"/>
              <a:ext cx="612686" cy="5821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2859" y="4674120"/>
              <a:ext cx="632485" cy="5821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55" y="4674120"/>
              <a:ext cx="620242" cy="582155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4267" y="5017008"/>
            <a:ext cx="498348" cy="5821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22957" y="5062854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4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16552" y="4991112"/>
            <a:ext cx="571500" cy="58215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595621" y="5036566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10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34911" y="4991112"/>
            <a:ext cx="568477" cy="58215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712966" y="5036566"/>
            <a:ext cx="217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18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84464" y="4945392"/>
            <a:ext cx="524268" cy="58215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464042" y="4990922"/>
            <a:ext cx="219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2</a:t>
            </a:r>
            <a:r>
              <a:rPr sz="1200" spc="-25" dirty="0">
                <a:latin typeface="Constantia"/>
                <a:cs typeface="Constantia"/>
              </a:rPr>
              <a:t>8</a:t>
            </a:r>
            <a:endParaRPr sz="1200">
              <a:latin typeface="Constantia"/>
              <a:cs typeface="Constant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0916" y="4953012"/>
            <a:ext cx="499859" cy="582155"/>
          </a:xfrm>
          <a:prstGeom prst="rect">
            <a:avLst/>
          </a:prstGeom>
        </p:spPr>
      </p:pic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42937" y="4625149"/>
          <a:ext cx="7848599" cy="603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977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369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1069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P0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189">
                <a:tc>
                  <a:txBody>
                    <a:bodyPr/>
                    <a:lstStyle/>
                    <a:p>
                      <a:pPr marL="13970">
                        <a:lnSpc>
                          <a:spcPts val="875"/>
                        </a:lnSpc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0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8775954" y="6555667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14</a:t>
            </a:r>
            <a:endParaRPr sz="1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31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Nonpreemptive</a:t>
            </a:r>
            <a:r>
              <a:rPr sz="3200" spc="-35" dirty="0"/>
              <a:t> </a:t>
            </a:r>
            <a:r>
              <a:rPr sz="3200" dirty="0"/>
              <a:t>SJF</a:t>
            </a:r>
            <a:r>
              <a:rPr sz="3200" spc="-110" dirty="0"/>
              <a:t> </a:t>
            </a:r>
            <a:r>
              <a:rPr sz="3200" spc="-10" dirty="0"/>
              <a:t>Scheduling</a:t>
            </a:r>
            <a:r>
              <a:rPr sz="3200" spc="-185" dirty="0"/>
              <a:t> </a:t>
            </a:r>
            <a:r>
              <a:rPr sz="3200" spc="-10" dirty="0"/>
              <a:t>Algorithm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8861297" y="6555667"/>
            <a:ext cx="14224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15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/>
              <a:t>Completion</a:t>
            </a:r>
            <a:r>
              <a:rPr spc="-140" dirty="0"/>
              <a:t> </a:t>
            </a:r>
            <a:r>
              <a:rPr spc="-20" dirty="0"/>
              <a:t>Time:</a:t>
            </a:r>
          </a:p>
          <a:p>
            <a:pPr marL="82550">
              <a:lnSpc>
                <a:spcPct val="100000"/>
              </a:lnSpc>
              <a:spcBef>
                <a:spcPts val="535"/>
              </a:spcBef>
            </a:pPr>
            <a:r>
              <a:rPr sz="2200" b="0" dirty="0">
                <a:latin typeface="Times New Roman"/>
                <a:cs typeface="Times New Roman"/>
              </a:rPr>
              <a:t>P0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=28,</a:t>
            </a:r>
            <a:r>
              <a:rPr sz="2200" b="0" spc="-2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P1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4,</a:t>
            </a:r>
            <a:r>
              <a:rPr sz="2200" b="0" spc="-3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P2</a:t>
            </a:r>
            <a:r>
              <a:rPr sz="2200" b="0" spc="-1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=18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P3</a:t>
            </a:r>
            <a:r>
              <a:rPr sz="2200" b="0" spc="-1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</a:t>
            </a:r>
            <a:r>
              <a:rPr sz="2200" b="0" spc="-20" dirty="0">
                <a:latin typeface="Times New Roman"/>
                <a:cs typeface="Times New Roman"/>
              </a:rPr>
              <a:t> </a:t>
            </a:r>
            <a:r>
              <a:rPr sz="2200" b="0" spc="-25" dirty="0">
                <a:latin typeface="Times New Roman"/>
                <a:cs typeface="Times New Roman"/>
              </a:rPr>
              <a:t>10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100" spc="-25" dirty="0"/>
              <a:t>Turnaround</a:t>
            </a:r>
            <a:r>
              <a:rPr sz="2100" spc="-105" dirty="0"/>
              <a:t> </a:t>
            </a:r>
            <a:r>
              <a:rPr sz="2100" spc="-40" dirty="0"/>
              <a:t>Time(TAT)</a:t>
            </a:r>
            <a:r>
              <a:rPr sz="2100" spc="-30" dirty="0"/>
              <a:t> </a:t>
            </a:r>
            <a:r>
              <a:rPr sz="2100" dirty="0"/>
              <a:t>=</a:t>
            </a:r>
            <a:r>
              <a:rPr sz="2100" spc="-25" dirty="0"/>
              <a:t> </a:t>
            </a:r>
            <a:r>
              <a:rPr sz="2100" dirty="0"/>
              <a:t>Completion</a:t>
            </a:r>
            <a:r>
              <a:rPr sz="2100" spc="-80" dirty="0"/>
              <a:t> </a:t>
            </a:r>
            <a:r>
              <a:rPr sz="2100" dirty="0"/>
              <a:t>Time(CT)</a:t>
            </a:r>
            <a:r>
              <a:rPr sz="2100" spc="-40" dirty="0"/>
              <a:t> </a:t>
            </a:r>
            <a:r>
              <a:rPr sz="2100" dirty="0"/>
              <a:t>–</a:t>
            </a:r>
            <a:r>
              <a:rPr sz="2100" spc="-130" dirty="0"/>
              <a:t> </a:t>
            </a:r>
            <a:r>
              <a:rPr sz="2100" dirty="0"/>
              <a:t>Arrival</a:t>
            </a:r>
            <a:r>
              <a:rPr sz="2100" spc="-60" dirty="0"/>
              <a:t> </a:t>
            </a:r>
            <a:r>
              <a:rPr sz="2100" spc="-10" dirty="0"/>
              <a:t>Time(AT)</a:t>
            </a:r>
            <a:endParaRPr sz="2100"/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100"/>
          </a:p>
          <a:p>
            <a:pPr marL="12700">
              <a:lnSpc>
                <a:spcPct val="100000"/>
              </a:lnSpc>
              <a:tabLst>
                <a:tab pos="2875280" algn="l"/>
              </a:tabLst>
            </a:pPr>
            <a:r>
              <a:rPr sz="2100" spc="-25" dirty="0"/>
              <a:t>Turnaround</a:t>
            </a:r>
            <a:r>
              <a:rPr sz="2100" spc="-80" dirty="0"/>
              <a:t> </a:t>
            </a:r>
            <a:r>
              <a:rPr sz="2100" spc="-10" dirty="0"/>
              <a:t>Time(TAT)</a:t>
            </a:r>
            <a:r>
              <a:rPr sz="2100" dirty="0"/>
              <a:t>	of</a:t>
            </a:r>
            <a:r>
              <a:rPr sz="2100" spc="-30" dirty="0"/>
              <a:t> </a:t>
            </a:r>
            <a:r>
              <a:rPr sz="2100" dirty="0"/>
              <a:t>each</a:t>
            </a:r>
            <a:r>
              <a:rPr sz="2100" spc="-15" dirty="0"/>
              <a:t> </a:t>
            </a:r>
            <a:r>
              <a:rPr sz="2100" spc="-10" dirty="0"/>
              <a:t>process</a:t>
            </a:r>
            <a:endParaRPr sz="21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b="0" dirty="0">
                <a:latin typeface="Times New Roman"/>
                <a:cs typeface="Times New Roman"/>
              </a:rPr>
              <a:t>P0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28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0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28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76655" algn="l"/>
              </a:tabLst>
            </a:pPr>
            <a:r>
              <a:rPr sz="2000" b="0" dirty="0">
                <a:latin typeface="Times New Roman"/>
                <a:cs typeface="Times New Roman"/>
              </a:rPr>
              <a:t>P1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4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– </a:t>
            </a:r>
            <a:r>
              <a:rPr sz="2000" b="0" spc="-50" dirty="0">
                <a:latin typeface="Times New Roman"/>
                <a:cs typeface="Times New Roman"/>
              </a:rPr>
              <a:t>0</a:t>
            </a:r>
            <a:r>
              <a:rPr sz="2000" b="0" dirty="0">
                <a:latin typeface="Times New Roman"/>
                <a:cs typeface="Times New Roman"/>
              </a:rPr>
              <a:t>	=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4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P2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18 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0 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18</a:t>
            </a:r>
            <a:r>
              <a:rPr sz="2000" b="0" spc="-10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P3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10 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0 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10</a:t>
            </a:r>
            <a:r>
              <a:rPr sz="2000" b="0" spc="-10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/>
              <a:t>Average</a:t>
            </a:r>
            <a:r>
              <a:rPr sz="1600" spc="-60" dirty="0"/>
              <a:t> </a:t>
            </a:r>
            <a:r>
              <a:rPr sz="1600" spc="-25" dirty="0"/>
              <a:t>Turnaround</a:t>
            </a:r>
            <a:r>
              <a:rPr sz="1600" spc="-75" dirty="0"/>
              <a:t> </a:t>
            </a:r>
            <a:r>
              <a:rPr sz="1600" spc="-40" dirty="0"/>
              <a:t>Time(ATAT)</a:t>
            </a:r>
            <a:r>
              <a:rPr sz="1600" spc="-5" dirty="0"/>
              <a:t> </a:t>
            </a:r>
            <a:r>
              <a:rPr sz="1600" b="0" dirty="0">
                <a:latin typeface="Times New Roman"/>
                <a:cs typeface="Times New Roman"/>
              </a:rPr>
              <a:t>=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Total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turn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around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time</a:t>
            </a:r>
            <a:r>
              <a:rPr sz="1600" b="0" spc="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all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processes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/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Total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no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processes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20" dirty="0"/>
              <a:t>Average</a:t>
            </a:r>
            <a:r>
              <a:rPr sz="2000" spc="-60" dirty="0"/>
              <a:t> </a:t>
            </a:r>
            <a:r>
              <a:rPr sz="2000" spc="-25" dirty="0"/>
              <a:t>Turnaround</a:t>
            </a:r>
            <a:r>
              <a:rPr sz="2000" spc="-65" dirty="0"/>
              <a:t> </a:t>
            </a:r>
            <a:r>
              <a:rPr sz="2000" spc="-55" dirty="0"/>
              <a:t>Time(ATAT)</a:t>
            </a:r>
            <a:r>
              <a:rPr sz="2000" spc="-35" dirty="0"/>
              <a:t> </a:t>
            </a:r>
            <a:r>
              <a:rPr sz="2000" dirty="0"/>
              <a:t>= </a:t>
            </a:r>
            <a:r>
              <a:rPr sz="2000" b="0" dirty="0">
                <a:latin typeface="Times New Roman"/>
                <a:cs typeface="Times New Roman"/>
              </a:rPr>
              <a:t>(28+4+18+10)</a:t>
            </a:r>
            <a:r>
              <a:rPr sz="2000" b="0" spc="-5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/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4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15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31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Nonpreemptive</a:t>
            </a:r>
            <a:r>
              <a:rPr sz="3200" spc="-35" dirty="0"/>
              <a:t> </a:t>
            </a:r>
            <a:r>
              <a:rPr sz="3200" dirty="0"/>
              <a:t>SJF</a:t>
            </a:r>
            <a:r>
              <a:rPr sz="3200" spc="-110" dirty="0"/>
              <a:t> </a:t>
            </a:r>
            <a:r>
              <a:rPr sz="3200" spc="-10" dirty="0"/>
              <a:t>Scheduling</a:t>
            </a:r>
            <a:r>
              <a:rPr sz="3200" spc="-185" dirty="0"/>
              <a:t> </a:t>
            </a:r>
            <a:r>
              <a:rPr sz="3200" spc="-10" dirty="0"/>
              <a:t>Algorithm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8774430" y="6555667"/>
            <a:ext cx="15494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16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837385"/>
            <a:ext cx="8366759" cy="37706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Times New Roman"/>
                <a:cs typeface="Times New Roman"/>
              </a:rPr>
              <a:t>Waiting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Time(WT)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Time(TAT)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Burst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Time(BT)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Times New Roman"/>
                <a:cs typeface="Times New Roman"/>
              </a:rPr>
              <a:t>Waiting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Time(WT)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P0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28-10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18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76655" algn="l"/>
              </a:tabLst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4</a:t>
            </a:r>
            <a:r>
              <a:rPr sz="2000" dirty="0">
                <a:latin typeface="Times New Roman"/>
                <a:cs typeface="Times New Roman"/>
              </a:rPr>
              <a:t>	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76655" algn="l"/>
              </a:tabLst>
            </a:pPr>
            <a:r>
              <a:rPr sz="2000" dirty="0">
                <a:latin typeface="Times New Roman"/>
                <a:cs typeface="Times New Roman"/>
              </a:rPr>
              <a:t>P2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18–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8</a:t>
            </a:r>
            <a:r>
              <a:rPr sz="2000" dirty="0">
                <a:latin typeface="Times New Roman"/>
                <a:cs typeface="Times New Roman"/>
              </a:rPr>
              <a:t>	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6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Times New Roman"/>
                <a:cs typeface="Times New Roman"/>
              </a:rPr>
              <a:t>Average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Waiting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Times New Roman"/>
                <a:cs typeface="Times New Roman"/>
              </a:rPr>
              <a:t>Time(AWT)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Total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Total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Waiting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Time(AWT)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(18+0+10+4)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7535">
              <a:lnSpc>
                <a:spcPct val="100000"/>
              </a:lnSpc>
              <a:spcBef>
                <a:spcPts val="105"/>
              </a:spcBef>
            </a:pPr>
            <a:r>
              <a:rPr dirty="0"/>
              <a:t>Preemptive</a:t>
            </a:r>
            <a:r>
              <a:rPr spc="-130" dirty="0"/>
              <a:t> </a:t>
            </a:r>
            <a:r>
              <a:rPr dirty="0"/>
              <a:t>SJF</a:t>
            </a:r>
            <a:r>
              <a:rPr spc="-42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4259960"/>
            <a:ext cx="18472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onstantia"/>
                <a:cs typeface="Constantia"/>
              </a:rPr>
              <a:t>Gantt</a:t>
            </a:r>
            <a:r>
              <a:rPr sz="2800" spc="-14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Chart</a:t>
            </a:r>
            <a:endParaRPr sz="2800">
              <a:latin typeface="Constantia"/>
              <a:cs typeface="Constant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9450" y="1670050"/>
          <a:ext cx="7392033" cy="2359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Sr.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Arrival</a:t>
                      </a:r>
                      <a:r>
                        <a:rPr sz="1600" b="1" spc="28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Execution</a:t>
                      </a:r>
                      <a:r>
                        <a:rPr sz="1600" b="1" spc="254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Time/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Burst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Time(ms)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p0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81037" y="5176837"/>
            <a:ext cx="7858125" cy="643890"/>
            <a:chOff x="681037" y="5176837"/>
            <a:chExt cx="7858125" cy="643890"/>
          </a:xfrm>
        </p:grpSpPr>
        <p:sp>
          <p:nvSpPr>
            <p:cNvPr id="6" name="object 6"/>
            <p:cNvSpPr/>
            <p:nvPr/>
          </p:nvSpPr>
          <p:spPr>
            <a:xfrm>
              <a:off x="685800" y="5181600"/>
              <a:ext cx="7848600" cy="457200"/>
            </a:xfrm>
            <a:custGeom>
              <a:avLst/>
              <a:gdLst/>
              <a:ahLst/>
              <a:cxnLst/>
              <a:rect l="l" t="t" r="r" b="b"/>
              <a:pathLst>
                <a:path w="7848600" h="457200">
                  <a:moveTo>
                    <a:pt x="7848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848600" y="457200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5181600"/>
              <a:ext cx="7848600" cy="457200"/>
            </a:xfrm>
            <a:custGeom>
              <a:avLst/>
              <a:gdLst/>
              <a:ahLst/>
              <a:cxnLst/>
              <a:rect l="l" t="t" r="r" b="b"/>
              <a:pathLst>
                <a:path w="7848600" h="457200">
                  <a:moveTo>
                    <a:pt x="0" y="457200"/>
                  </a:moveTo>
                  <a:lnTo>
                    <a:pt x="7848600" y="457200"/>
                  </a:lnTo>
                  <a:lnTo>
                    <a:pt x="7848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1768" y="5237988"/>
              <a:ext cx="580644" cy="5821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91356" y="5284470"/>
            <a:ext cx="105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151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8755" y="5199888"/>
            <a:ext cx="620242" cy="5821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59013" y="5246370"/>
            <a:ext cx="1589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53528" y="5237988"/>
            <a:ext cx="612686" cy="58215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331013" y="5284470"/>
            <a:ext cx="2199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9420" algn="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P3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10584" y="5199888"/>
            <a:ext cx="630974" cy="58215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359213" y="5246370"/>
            <a:ext cx="1437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P4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81037" y="5176837"/>
            <a:ext cx="5650230" cy="1024890"/>
            <a:chOff x="681037" y="5176837"/>
            <a:chExt cx="5650230" cy="1024890"/>
          </a:xfrm>
        </p:grpSpPr>
        <p:sp>
          <p:nvSpPr>
            <p:cNvPr id="17" name="object 17"/>
            <p:cNvSpPr/>
            <p:nvPr/>
          </p:nvSpPr>
          <p:spPr>
            <a:xfrm>
              <a:off x="685800" y="5181600"/>
              <a:ext cx="5640705" cy="457200"/>
            </a:xfrm>
            <a:custGeom>
              <a:avLst/>
              <a:gdLst/>
              <a:ahLst/>
              <a:cxnLst/>
              <a:rect l="l" t="t" r="r" b="b"/>
              <a:pathLst>
                <a:path w="5640705" h="457200">
                  <a:moveTo>
                    <a:pt x="5640451" y="0"/>
                  </a:moveTo>
                  <a:lnTo>
                    <a:pt x="5638800" y="457200"/>
                  </a:lnTo>
                </a:path>
                <a:path w="5640705" h="457200">
                  <a:moveTo>
                    <a:pt x="1587" y="304800"/>
                  </a:moveTo>
                  <a:lnTo>
                    <a:pt x="0" y="457200"/>
                  </a:lnTo>
                </a:path>
                <a:path w="5640705" h="457200">
                  <a:moveTo>
                    <a:pt x="1068451" y="0"/>
                  </a:moveTo>
                  <a:lnTo>
                    <a:pt x="1066800" y="457200"/>
                  </a:lnTo>
                </a:path>
                <a:path w="5640705" h="457200">
                  <a:moveTo>
                    <a:pt x="4114800" y="0"/>
                  </a:moveTo>
                  <a:lnTo>
                    <a:pt x="4114800" y="381000"/>
                  </a:lnTo>
                </a:path>
                <a:path w="5640705" h="457200">
                  <a:moveTo>
                    <a:pt x="2668651" y="0"/>
                  </a:moveTo>
                  <a:lnTo>
                    <a:pt x="2667000" y="457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3624" y="5618987"/>
              <a:ext cx="448106" cy="58215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742313" y="5665419"/>
            <a:ext cx="97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72940" y="5542788"/>
            <a:ext cx="571500" cy="58215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652009" y="5589219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10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56959" y="5580888"/>
            <a:ext cx="556234" cy="58215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336284" y="5627319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17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86928" y="5580888"/>
            <a:ext cx="611098" cy="58215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8366506" y="5627319"/>
            <a:ext cx="261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26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2440" y="5591555"/>
            <a:ext cx="499859" cy="58215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 rot="10860000">
            <a:off x="593589" y="5734963"/>
            <a:ext cx="261817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4"/>
              </a:lnSpc>
            </a:pPr>
            <a:r>
              <a:rPr sz="1800" spc="-50" dirty="0">
                <a:latin typeface="Constantia"/>
                <a:cs typeface="Constantia"/>
              </a:rPr>
              <a:t>0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767" y="5237988"/>
            <a:ext cx="580643" cy="58215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805362" y="5284470"/>
            <a:ext cx="1514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77539" y="5504688"/>
            <a:ext cx="725436" cy="58215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356609" y="5551119"/>
            <a:ext cx="374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5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P5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124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191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Preemptive</a:t>
            </a:r>
            <a:r>
              <a:rPr sz="3600" spc="-60" dirty="0"/>
              <a:t> </a:t>
            </a:r>
            <a:r>
              <a:rPr sz="3600" dirty="0"/>
              <a:t>SJF</a:t>
            </a:r>
            <a:r>
              <a:rPr sz="3600" spc="-175" dirty="0"/>
              <a:t> </a:t>
            </a:r>
            <a:r>
              <a:rPr sz="3600" dirty="0"/>
              <a:t>Scheduling</a:t>
            </a:r>
            <a:r>
              <a:rPr sz="3600" spc="-225" dirty="0"/>
              <a:t> </a:t>
            </a:r>
            <a:r>
              <a:rPr sz="3600" spc="-10" dirty="0"/>
              <a:t>Algorithm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124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/>
              <a:t>Completion</a:t>
            </a:r>
            <a:r>
              <a:rPr spc="-140" dirty="0"/>
              <a:t> </a:t>
            </a:r>
            <a:r>
              <a:rPr spc="-20" dirty="0"/>
              <a:t>Time:</a:t>
            </a:r>
          </a:p>
          <a:p>
            <a:pPr marL="82550">
              <a:lnSpc>
                <a:spcPct val="100000"/>
              </a:lnSpc>
              <a:spcBef>
                <a:spcPts val="535"/>
              </a:spcBef>
            </a:pPr>
            <a:r>
              <a:rPr sz="2200" b="0" dirty="0">
                <a:latin typeface="Times New Roman"/>
                <a:cs typeface="Times New Roman"/>
              </a:rPr>
              <a:t>P0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=17,</a:t>
            </a:r>
            <a:r>
              <a:rPr sz="2200" b="0" spc="-2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P1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5,</a:t>
            </a:r>
            <a:r>
              <a:rPr sz="2200" b="0" spc="-3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P2</a:t>
            </a:r>
            <a:r>
              <a:rPr sz="2200" b="0" spc="-1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=26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P3</a:t>
            </a:r>
            <a:r>
              <a:rPr sz="2200" b="0" spc="-1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</a:t>
            </a:r>
            <a:r>
              <a:rPr sz="2200" b="0" spc="-20" dirty="0">
                <a:latin typeface="Times New Roman"/>
                <a:cs typeface="Times New Roman"/>
              </a:rPr>
              <a:t> </a:t>
            </a:r>
            <a:r>
              <a:rPr sz="2200" b="0" spc="-25" dirty="0">
                <a:latin typeface="Times New Roman"/>
                <a:cs typeface="Times New Roman"/>
              </a:rPr>
              <a:t>10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100" spc="-25" dirty="0"/>
              <a:t>Turnaround</a:t>
            </a:r>
            <a:r>
              <a:rPr sz="2100" spc="-105" dirty="0"/>
              <a:t> </a:t>
            </a:r>
            <a:r>
              <a:rPr sz="2100" spc="-40" dirty="0"/>
              <a:t>Time(TAT)</a:t>
            </a:r>
            <a:r>
              <a:rPr sz="2100" spc="-30" dirty="0"/>
              <a:t> </a:t>
            </a:r>
            <a:r>
              <a:rPr sz="2100" dirty="0"/>
              <a:t>=</a:t>
            </a:r>
            <a:r>
              <a:rPr sz="2100" spc="-25" dirty="0"/>
              <a:t> </a:t>
            </a:r>
            <a:r>
              <a:rPr sz="2100" dirty="0"/>
              <a:t>Completion</a:t>
            </a:r>
            <a:r>
              <a:rPr sz="2100" spc="-80" dirty="0"/>
              <a:t> </a:t>
            </a:r>
            <a:r>
              <a:rPr sz="2100" dirty="0"/>
              <a:t>Time(CT)</a:t>
            </a:r>
            <a:r>
              <a:rPr sz="2100" spc="-40" dirty="0"/>
              <a:t> </a:t>
            </a:r>
            <a:r>
              <a:rPr sz="2100" dirty="0"/>
              <a:t>–</a:t>
            </a:r>
            <a:r>
              <a:rPr sz="2100" spc="-130" dirty="0"/>
              <a:t> </a:t>
            </a:r>
            <a:r>
              <a:rPr sz="2100" dirty="0"/>
              <a:t>Arrival</a:t>
            </a:r>
            <a:r>
              <a:rPr sz="2100" spc="-60" dirty="0"/>
              <a:t> </a:t>
            </a:r>
            <a:r>
              <a:rPr sz="2100" spc="-10" dirty="0"/>
              <a:t>Time(AT)</a:t>
            </a:r>
            <a:endParaRPr sz="2100"/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100"/>
          </a:p>
          <a:p>
            <a:pPr marL="12700">
              <a:lnSpc>
                <a:spcPct val="100000"/>
              </a:lnSpc>
              <a:tabLst>
                <a:tab pos="2875280" algn="l"/>
              </a:tabLst>
            </a:pPr>
            <a:r>
              <a:rPr sz="2100" spc="-25" dirty="0"/>
              <a:t>Turnaround</a:t>
            </a:r>
            <a:r>
              <a:rPr sz="2100" spc="-80" dirty="0"/>
              <a:t> </a:t>
            </a:r>
            <a:r>
              <a:rPr sz="2100" spc="-10" dirty="0"/>
              <a:t>Time(TAT)</a:t>
            </a:r>
            <a:r>
              <a:rPr sz="2100" dirty="0"/>
              <a:t>	of</a:t>
            </a:r>
            <a:r>
              <a:rPr sz="2100" spc="-30" dirty="0"/>
              <a:t> </a:t>
            </a:r>
            <a:r>
              <a:rPr sz="2100" dirty="0"/>
              <a:t>each</a:t>
            </a:r>
            <a:r>
              <a:rPr sz="2100" spc="-15" dirty="0"/>
              <a:t> </a:t>
            </a:r>
            <a:r>
              <a:rPr sz="2100" spc="-10" dirty="0"/>
              <a:t>process</a:t>
            </a:r>
            <a:endParaRPr sz="21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b="0" dirty="0">
                <a:latin typeface="Times New Roman"/>
                <a:cs typeface="Times New Roman"/>
              </a:rPr>
              <a:t>P0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17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0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17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76655" algn="l"/>
              </a:tabLst>
            </a:pPr>
            <a:r>
              <a:rPr sz="2000" b="0" dirty="0">
                <a:latin typeface="Times New Roman"/>
                <a:cs typeface="Times New Roman"/>
              </a:rPr>
              <a:t>P1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5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– </a:t>
            </a:r>
            <a:r>
              <a:rPr sz="2000" b="0" spc="-50" dirty="0">
                <a:latin typeface="Times New Roman"/>
                <a:cs typeface="Times New Roman"/>
              </a:rPr>
              <a:t>1</a:t>
            </a:r>
            <a:r>
              <a:rPr sz="2000" b="0" dirty="0">
                <a:latin typeface="Times New Roman"/>
                <a:cs typeface="Times New Roman"/>
              </a:rPr>
              <a:t>	=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4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P2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26 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2 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24</a:t>
            </a:r>
            <a:r>
              <a:rPr sz="2000" b="0" spc="-10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P3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10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– 3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7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/>
              <a:t>Average</a:t>
            </a:r>
            <a:r>
              <a:rPr sz="1600" spc="-60" dirty="0"/>
              <a:t> </a:t>
            </a:r>
            <a:r>
              <a:rPr sz="1600" spc="-25" dirty="0"/>
              <a:t>Turnaround</a:t>
            </a:r>
            <a:r>
              <a:rPr sz="1600" spc="-75" dirty="0"/>
              <a:t> </a:t>
            </a:r>
            <a:r>
              <a:rPr sz="1600" spc="-40" dirty="0"/>
              <a:t>Time(ATAT)</a:t>
            </a:r>
            <a:r>
              <a:rPr sz="1600" spc="-5" dirty="0"/>
              <a:t> </a:t>
            </a:r>
            <a:r>
              <a:rPr sz="1600" b="0" dirty="0">
                <a:latin typeface="Times New Roman"/>
                <a:cs typeface="Times New Roman"/>
              </a:rPr>
              <a:t>=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Total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turn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around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time</a:t>
            </a:r>
            <a:r>
              <a:rPr sz="1600" b="0" spc="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all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processes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/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Total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no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processes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20" dirty="0"/>
              <a:t>Average</a:t>
            </a:r>
            <a:r>
              <a:rPr sz="2000" spc="-65" dirty="0"/>
              <a:t> </a:t>
            </a:r>
            <a:r>
              <a:rPr sz="2000" spc="-25" dirty="0"/>
              <a:t>Turnaround</a:t>
            </a:r>
            <a:r>
              <a:rPr sz="2000" spc="-65" dirty="0"/>
              <a:t> </a:t>
            </a:r>
            <a:r>
              <a:rPr sz="2000" spc="-55" dirty="0"/>
              <a:t>Time(ATAT)</a:t>
            </a:r>
            <a:r>
              <a:rPr sz="2000" spc="-35" dirty="0"/>
              <a:t> </a:t>
            </a:r>
            <a:r>
              <a:rPr sz="2000" dirty="0"/>
              <a:t>= </a:t>
            </a:r>
            <a:r>
              <a:rPr sz="2000" b="0" dirty="0">
                <a:latin typeface="Times New Roman"/>
                <a:cs typeface="Times New Roman"/>
              </a:rPr>
              <a:t>(17+4+24+7)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/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4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13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791" y="642873"/>
            <a:ext cx="7512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Preemptive</a:t>
            </a:r>
            <a:r>
              <a:rPr sz="3600" spc="-50" dirty="0"/>
              <a:t> </a:t>
            </a:r>
            <a:r>
              <a:rPr sz="3600" dirty="0"/>
              <a:t>SJF</a:t>
            </a:r>
            <a:r>
              <a:rPr sz="3600" spc="-175" dirty="0"/>
              <a:t> </a:t>
            </a:r>
            <a:r>
              <a:rPr sz="3600" dirty="0"/>
              <a:t>Scheduling</a:t>
            </a:r>
            <a:r>
              <a:rPr sz="3600" spc="-225" dirty="0"/>
              <a:t> </a:t>
            </a:r>
            <a:r>
              <a:rPr sz="3600" spc="-10" dirty="0"/>
              <a:t>Algorithm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124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37385"/>
            <a:ext cx="8366759" cy="3404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Times New Roman"/>
                <a:cs typeface="Times New Roman"/>
              </a:rPr>
              <a:t>Waiting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Time(WT)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Time(TAT)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Burst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Time(BT)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Times New Roman"/>
                <a:cs typeface="Times New Roman"/>
              </a:rPr>
              <a:t>Waiting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Time(WT)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17-8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9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0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-9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15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13155" algn="l"/>
              </a:tabLst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	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Times New Roman"/>
                <a:cs typeface="Times New Roman"/>
              </a:rPr>
              <a:t>Average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Waiting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Times New Roman"/>
                <a:cs typeface="Times New Roman"/>
              </a:rPr>
              <a:t>Time(AWT)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Total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Total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Waiting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Time(AWT)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(9+0+15+2)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6.5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3222" y="802894"/>
            <a:ext cx="533781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Priority </a:t>
            </a:r>
            <a:r>
              <a:rPr sz="5000" spc="-10" dirty="0"/>
              <a:t>Scheduling</a:t>
            </a:r>
            <a:endParaRPr sz="5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124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97814" y="1849577"/>
            <a:ext cx="8072120" cy="2959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marR="5080" indent="-275590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priority</a:t>
            </a:r>
            <a:r>
              <a:rPr sz="2600" spc="1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associated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CPU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allocated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highest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priority.</a:t>
            </a:r>
            <a:endParaRPr sz="2600">
              <a:latin typeface="Times New Roman"/>
              <a:cs typeface="Times New Roman"/>
            </a:endParaRPr>
          </a:p>
          <a:p>
            <a:pPr marL="285750" indent="-274955" algn="just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Equal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priority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processes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scheduled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FCFS</a:t>
            </a:r>
            <a:r>
              <a:rPr sz="2600" spc="-10" dirty="0">
                <a:latin typeface="Times New Roman"/>
                <a:cs typeface="Times New Roman"/>
              </a:rPr>
              <a:t> order.</a:t>
            </a:r>
            <a:endParaRPr sz="2600">
              <a:latin typeface="Times New Roman"/>
              <a:cs typeface="Times New Roman"/>
            </a:endParaRPr>
          </a:p>
          <a:p>
            <a:pPr marL="285750" marR="5715" indent="-275590" algn="just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Priorities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generally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some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fixed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range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numbers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such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2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0</a:t>
            </a:r>
            <a:r>
              <a:rPr sz="2600" spc="2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1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7.</a:t>
            </a:r>
            <a:r>
              <a:rPr sz="2600" spc="21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some</a:t>
            </a:r>
            <a:r>
              <a:rPr sz="2600" spc="2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2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represents</a:t>
            </a:r>
            <a:r>
              <a:rPr sz="2600" spc="204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low</a:t>
            </a:r>
            <a:r>
              <a:rPr sz="2600" spc="21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numbers</a:t>
            </a:r>
            <a:r>
              <a:rPr sz="2600" spc="215" dirty="0">
                <a:latin typeface="Times New Roman"/>
                <a:cs typeface="Times New Roman"/>
              </a:rPr>
              <a:t> 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represent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low</a:t>
            </a:r>
            <a:r>
              <a:rPr sz="2600" spc="5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priority</a:t>
            </a:r>
            <a:r>
              <a:rPr sz="2600" spc="5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while</a:t>
            </a:r>
            <a:r>
              <a:rPr sz="2600" spc="5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others</a:t>
            </a:r>
            <a:r>
              <a:rPr sz="2600" spc="5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</a:t>
            </a:r>
            <a:r>
              <a:rPr sz="2600" spc="5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low</a:t>
            </a:r>
            <a:r>
              <a:rPr sz="2600" spc="5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numbers</a:t>
            </a:r>
            <a:r>
              <a:rPr sz="2600" spc="509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represent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high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priority.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5"/>
              </a:spcBef>
            </a:pPr>
            <a:r>
              <a:rPr dirty="0"/>
              <a:t>Priority</a:t>
            </a:r>
            <a:r>
              <a:rPr spc="5" dirty="0"/>
              <a:t> </a:t>
            </a:r>
            <a:r>
              <a:rPr spc="-10" dirty="0"/>
              <a:t>Scheduling</a:t>
            </a:r>
            <a:r>
              <a:rPr spc="-22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4112514"/>
            <a:ext cx="1938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onstantia"/>
                <a:cs typeface="Constantia"/>
              </a:rPr>
              <a:t>Gantt</a:t>
            </a:r>
            <a:r>
              <a:rPr sz="2800" spc="-14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Chart:</a:t>
            </a:r>
            <a:endParaRPr sz="2800">
              <a:latin typeface="Constantia"/>
              <a:cs typeface="Constant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050" y="1504950"/>
          <a:ext cx="7392033" cy="2708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484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Sr.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Burst</a:t>
                      </a:r>
                      <a:r>
                        <a:rPr sz="1600" b="1" spc="-10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Priority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P4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P5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81037" y="5123497"/>
            <a:ext cx="7172325" cy="701675"/>
            <a:chOff x="681037" y="5123497"/>
            <a:chExt cx="7172325" cy="701675"/>
          </a:xfrm>
        </p:grpSpPr>
        <p:sp>
          <p:nvSpPr>
            <p:cNvPr id="6" name="object 6"/>
            <p:cNvSpPr/>
            <p:nvPr/>
          </p:nvSpPr>
          <p:spPr>
            <a:xfrm>
              <a:off x="685800" y="5128259"/>
              <a:ext cx="7162800" cy="556260"/>
            </a:xfrm>
            <a:custGeom>
              <a:avLst/>
              <a:gdLst/>
              <a:ahLst/>
              <a:cxnLst/>
              <a:rect l="l" t="t" r="r" b="b"/>
              <a:pathLst>
                <a:path w="7162800" h="556260">
                  <a:moveTo>
                    <a:pt x="7162800" y="0"/>
                  </a:moveTo>
                  <a:lnTo>
                    <a:pt x="0" y="0"/>
                  </a:lnTo>
                  <a:lnTo>
                    <a:pt x="0" y="556259"/>
                  </a:lnTo>
                  <a:lnTo>
                    <a:pt x="7162800" y="556259"/>
                  </a:lnTo>
                  <a:lnTo>
                    <a:pt x="7162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5128259"/>
              <a:ext cx="7162800" cy="556260"/>
            </a:xfrm>
            <a:custGeom>
              <a:avLst/>
              <a:gdLst/>
              <a:ahLst/>
              <a:cxnLst/>
              <a:rect l="l" t="t" r="r" b="b"/>
              <a:pathLst>
                <a:path w="7162800" h="556260">
                  <a:moveTo>
                    <a:pt x="0" y="556259"/>
                  </a:moveTo>
                  <a:lnTo>
                    <a:pt x="7162800" y="556259"/>
                  </a:lnTo>
                  <a:lnTo>
                    <a:pt x="7162800" y="0"/>
                  </a:lnTo>
                  <a:lnTo>
                    <a:pt x="0" y="0"/>
                  </a:lnTo>
                  <a:lnTo>
                    <a:pt x="0" y="55625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155" y="5242559"/>
              <a:ext cx="620242" cy="5821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58570" y="5288407"/>
            <a:ext cx="2559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279" y="5256276"/>
            <a:ext cx="617219" cy="5821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31669" y="5301741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9083" y="5247132"/>
            <a:ext cx="630974" cy="58215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341361" y="5292978"/>
            <a:ext cx="266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P4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34967" y="5259323"/>
            <a:ext cx="580643" cy="58215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126738" y="530479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81037" y="5138737"/>
            <a:ext cx="6068060" cy="1036955"/>
            <a:chOff x="681037" y="5138737"/>
            <a:chExt cx="6068060" cy="1036955"/>
          </a:xfrm>
        </p:grpSpPr>
        <p:sp>
          <p:nvSpPr>
            <p:cNvPr id="17" name="object 17"/>
            <p:cNvSpPr/>
            <p:nvPr/>
          </p:nvSpPr>
          <p:spPr>
            <a:xfrm>
              <a:off x="685800" y="5143500"/>
              <a:ext cx="6058535" cy="541655"/>
            </a:xfrm>
            <a:custGeom>
              <a:avLst/>
              <a:gdLst/>
              <a:ahLst/>
              <a:cxnLst/>
              <a:rect l="l" t="t" r="r" b="b"/>
              <a:pathLst>
                <a:path w="6058534" h="541654">
                  <a:moveTo>
                    <a:pt x="6007608" y="0"/>
                  </a:moveTo>
                  <a:lnTo>
                    <a:pt x="6058408" y="490537"/>
                  </a:lnTo>
                </a:path>
                <a:path w="6058534" h="541654">
                  <a:moveTo>
                    <a:pt x="1587" y="342900"/>
                  </a:moveTo>
                  <a:lnTo>
                    <a:pt x="0" y="495300"/>
                  </a:lnTo>
                </a:path>
                <a:path w="6058534" h="541654">
                  <a:moveTo>
                    <a:pt x="813943" y="33527"/>
                  </a:moveTo>
                  <a:lnTo>
                    <a:pt x="812291" y="490728"/>
                  </a:lnTo>
                </a:path>
                <a:path w="6058534" h="541654">
                  <a:moveTo>
                    <a:pt x="4677156" y="33527"/>
                  </a:moveTo>
                  <a:lnTo>
                    <a:pt x="4686681" y="541528"/>
                  </a:lnTo>
                </a:path>
                <a:path w="6058534" h="541654">
                  <a:moveTo>
                    <a:pt x="2398903" y="38100"/>
                  </a:moveTo>
                  <a:lnTo>
                    <a:pt x="2397252" y="495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9200" y="5593080"/>
              <a:ext cx="448106" cy="58215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97888" y="5639206"/>
            <a:ext cx="97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82540" y="5615940"/>
            <a:ext cx="571500" cy="58215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261864" y="5661761"/>
            <a:ext cx="2209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16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54140" y="5617464"/>
            <a:ext cx="571500" cy="58215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633464" y="5662980"/>
            <a:ext cx="220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18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82840" y="5617464"/>
            <a:ext cx="571500" cy="58215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662418" y="5662980"/>
            <a:ext cx="219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19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0916" y="5590032"/>
            <a:ext cx="499859" cy="58215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49325" y="5635244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0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68696" y="5237988"/>
            <a:ext cx="612686" cy="58215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759450" y="5284470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P3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17876" y="5617464"/>
            <a:ext cx="606564" cy="58215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996945" y="5662980"/>
            <a:ext cx="256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6</a:t>
            </a:r>
            <a:r>
              <a:rPr sz="1800" spc="-25" dirty="0">
                <a:solidFill>
                  <a:srgbClr val="FFFFFF"/>
                </a:solidFill>
                <a:latin typeface="Constantia"/>
                <a:cs typeface="Constantia"/>
              </a:rPr>
              <a:t>5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124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5"/>
              </a:spcBef>
            </a:pPr>
            <a:r>
              <a:rPr dirty="0"/>
              <a:t>Priority</a:t>
            </a:r>
            <a:r>
              <a:rPr spc="5" dirty="0"/>
              <a:t> </a:t>
            </a:r>
            <a:r>
              <a:rPr spc="-10" dirty="0"/>
              <a:t>Scheduling</a:t>
            </a:r>
            <a:r>
              <a:rPr spc="-22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/>
              <a:t>Completion</a:t>
            </a:r>
            <a:r>
              <a:rPr spc="-140" dirty="0"/>
              <a:t> </a:t>
            </a:r>
            <a:r>
              <a:rPr spc="-20" dirty="0"/>
              <a:t>Time:</a:t>
            </a: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b="0" dirty="0">
                <a:latin typeface="Times New Roman"/>
                <a:cs typeface="Times New Roman"/>
              </a:rPr>
              <a:t>P1</a:t>
            </a:r>
            <a:r>
              <a:rPr sz="2200" b="0" spc="-1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</a:t>
            </a:r>
            <a:r>
              <a:rPr sz="2200" b="0" spc="-2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16,</a:t>
            </a:r>
            <a:r>
              <a:rPr sz="2200" b="0" spc="-3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P2</a:t>
            </a:r>
            <a:r>
              <a:rPr sz="2200" b="0" spc="-3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=1,</a:t>
            </a:r>
            <a:r>
              <a:rPr sz="2200" b="0" spc="-2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P3</a:t>
            </a:r>
            <a:r>
              <a:rPr sz="2200" b="0" spc="-3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</a:t>
            </a:r>
            <a:r>
              <a:rPr sz="2200" b="0" spc="-2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18,</a:t>
            </a:r>
            <a:r>
              <a:rPr sz="2200" b="0" spc="-3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P4</a:t>
            </a:r>
            <a:r>
              <a:rPr sz="2200" b="0" spc="-1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=19,</a:t>
            </a:r>
            <a:r>
              <a:rPr sz="2200" b="0" spc="-30" dirty="0">
                <a:latin typeface="Times New Roman"/>
                <a:cs typeface="Times New Roman"/>
              </a:rPr>
              <a:t> </a:t>
            </a:r>
            <a:r>
              <a:rPr sz="2200" b="0" spc="-20" dirty="0">
                <a:latin typeface="Times New Roman"/>
                <a:cs typeface="Times New Roman"/>
              </a:rPr>
              <a:t>P5=6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100" spc="-25" dirty="0"/>
              <a:t>Turnaround</a:t>
            </a:r>
            <a:r>
              <a:rPr sz="2100" spc="-105" dirty="0"/>
              <a:t> </a:t>
            </a:r>
            <a:r>
              <a:rPr sz="2100" spc="-40" dirty="0"/>
              <a:t>Time(TAT)</a:t>
            </a:r>
            <a:r>
              <a:rPr sz="2100" spc="-30" dirty="0"/>
              <a:t> </a:t>
            </a:r>
            <a:r>
              <a:rPr sz="2100" dirty="0"/>
              <a:t>=</a:t>
            </a:r>
            <a:r>
              <a:rPr sz="2100" spc="-25" dirty="0"/>
              <a:t> </a:t>
            </a:r>
            <a:r>
              <a:rPr sz="2100" dirty="0"/>
              <a:t>Completion</a:t>
            </a:r>
            <a:r>
              <a:rPr sz="2100" spc="-80" dirty="0"/>
              <a:t> </a:t>
            </a:r>
            <a:r>
              <a:rPr sz="2100" dirty="0"/>
              <a:t>Time(CT)</a:t>
            </a:r>
            <a:r>
              <a:rPr sz="2100" spc="-40" dirty="0"/>
              <a:t> </a:t>
            </a:r>
            <a:r>
              <a:rPr sz="2100" dirty="0"/>
              <a:t>–</a:t>
            </a:r>
            <a:r>
              <a:rPr sz="2100" spc="-130" dirty="0"/>
              <a:t> </a:t>
            </a:r>
            <a:r>
              <a:rPr sz="2100" dirty="0"/>
              <a:t>Arrival</a:t>
            </a:r>
            <a:r>
              <a:rPr sz="2100" spc="-60" dirty="0"/>
              <a:t> </a:t>
            </a:r>
            <a:r>
              <a:rPr sz="2100" spc="-10" dirty="0"/>
              <a:t>Time(AT)</a:t>
            </a:r>
            <a:endParaRPr sz="2100"/>
          </a:p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2661920" algn="l"/>
              </a:tabLst>
            </a:pPr>
            <a:r>
              <a:rPr sz="2100" b="0" spc="-10" dirty="0">
                <a:latin typeface="Times New Roman"/>
                <a:cs typeface="Times New Roman"/>
              </a:rPr>
              <a:t>Turnaround</a:t>
            </a:r>
            <a:r>
              <a:rPr sz="2100" b="0" spc="-85" dirty="0">
                <a:latin typeface="Times New Roman"/>
                <a:cs typeface="Times New Roman"/>
              </a:rPr>
              <a:t> </a:t>
            </a:r>
            <a:r>
              <a:rPr sz="2100" b="0" spc="-10" dirty="0">
                <a:latin typeface="Times New Roman"/>
                <a:cs typeface="Times New Roman"/>
              </a:rPr>
              <a:t>Time(TAT)</a:t>
            </a:r>
            <a:r>
              <a:rPr sz="2100" b="0" dirty="0">
                <a:latin typeface="Times New Roman"/>
                <a:cs typeface="Times New Roman"/>
              </a:rPr>
              <a:t>	of</a:t>
            </a:r>
            <a:r>
              <a:rPr sz="2100" b="0" spc="-40" dirty="0">
                <a:latin typeface="Times New Roman"/>
                <a:cs typeface="Times New Roman"/>
              </a:rPr>
              <a:t> </a:t>
            </a:r>
            <a:r>
              <a:rPr sz="2100" b="0" dirty="0">
                <a:latin typeface="Times New Roman"/>
                <a:cs typeface="Times New Roman"/>
              </a:rPr>
              <a:t>each</a:t>
            </a:r>
            <a:r>
              <a:rPr sz="2100" b="0" spc="-20" dirty="0">
                <a:latin typeface="Times New Roman"/>
                <a:cs typeface="Times New Roman"/>
              </a:rPr>
              <a:t> </a:t>
            </a:r>
            <a:r>
              <a:rPr sz="2100" b="0" spc="-10" dirty="0">
                <a:latin typeface="Times New Roman"/>
                <a:cs typeface="Times New Roman"/>
              </a:rPr>
              <a:t>process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b="0" dirty="0">
                <a:latin typeface="Times New Roman"/>
                <a:cs typeface="Times New Roman"/>
              </a:rPr>
              <a:t>P1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16 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0 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16</a:t>
            </a:r>
            <a:r>
              <a:rPr sz="2000" b="0" spc="-10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P2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0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= 1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P3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18 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0 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18</a:t>
            </a:r>
            <a:r>
              <a:rPr sz="2000" b="0" spc="-10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P4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19 –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0 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19</a:t>
            </a:r>
            <a:r>
              <a:rPr sz="2000" b="0" spc="-10" dirty="0">
                <a:latin typeface="Times New Roman"/>
                <a:cs typeface="Times New Roman"/>
              </a:rPr>
              <a:t>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Times New Roman"/>
                <a:cs typeface="Times New Roman"/>
              </a:rPr>
              <a:t>P5: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6 – 0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=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6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20" dirty="0"/>
              <a:t>Average</a:t>
            </a:r>
            <a:r>
              <a:rPr sz="1600" spc="-60" dirty="0"/>
              <a:t> </a:t>
            </a:r>
            <a:r>
              <a:rPr sz="1600" spc="-20" dirty="0"/>
              <a:t>Turnaround</a:t>
            </a:r>
            <a:r>
              <a:rPr sz="1600" spc="-65" dirty="0"/>
              <a:t> </a:t>
            </a:r>
            <a:r>
              <a:rPr sz="1600" spc="-40" dirty="0"/>
              <a:t>Time(ATAT)</a:t>
            </a:r>
            <a:r>
              <a:rPr sz="1600" spc="-5" dirty="0"/>
              <a:t> </a:t>
            </a:r>
            <a:r>
              <a:rPr sz="1600" b="0" dirty="0">
                <a:latin typeface="Times New Roman"/>
                <a:cs typeface="Times New Roman"/>
              </a:rPr>
              <a:t>=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spc="-20" dirty="0">
                <a:latin typeface="Times New Roman"/>
                <a:cs typeface="Times New Roman"/>
              </a:rPr>
              <a:t>Total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turn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around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time</a:t>
            </a:r>
            <a:r>
              <a:rPr sz="1600" b="0" spc="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all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processes</a:t>
            </a:r>
            <a:r>
              <a:rPr sz="1600" b="0" spc="-1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/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spc="-20" dirty="0">
                <a:latin typeface="Times New Roman"/>
                <a:cs typeface="Times New Roman"/>
              </a:rPr>
              <a:t>Total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no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processes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20" dirty="0"/>
              <a:t>Average</a:t>
            </a:r>
            <a:r>
              <a:rPr sz="2000" spc="-65" dirty="0"/>
              <a:t> </a:t>
            </a:r>
            <a:r>
              <a:rPr sz="2000" spc="-25" dirty="0"/>
              <a:t>Turnaround</a:t>
            </a:r>
            <a:r>
              <a:rPr sz="2000" spc="-65" dirty="0"/>
              <a:t> </a:t>
            </a:r>
            <a:r>
              <a:rPr sz="2000" spc="-55" dirty="0"/>
              <a:t>Time(ATAT)</a:t>
            </a:r>
            <a:r>
              <a:rPr sz="2000" spc="-35" dirty="0"/>
              <a:t> </a:t>
            </a:r>
            <a:r>
              <a:rPr sz="2000" dirty="0"/>
              <a:t>= </a:t>
            </a:r>
            <a:r>
              <a:rPr sz="2000" b="0" dirty="0">
                <a:latin typeface="Times New Roman"/>
                <a:cs typeface="Times New Roman"/>
              </a:rPr>
              <a:t>(16+1+18+19+6)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/</a:t>
            </a:r>
            <a:r>
              <a:rPr sz="2000" b="0" spc="-1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5</a:t>
            </a:r>
            <a:r>
              <a:rPr sz="2000" b="0" spc="-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=</a:t>
            </a:r>
            <a:r>
              <a:rPr sz="2000" b="0" spc="-2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12 </a:t>
            </a:r>
            <a:r>
              <a:rPr sz="2000" b="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5"/>
              </a:spcBef>
            </a:pPr>
            <a:r>
              <a:rPr dirty="0"/>
              <a:t>Priority</a:t>
            </a:r>
            <a:r>
              <a:rPr spc="5" dirty="0"/>
              <a:t> </a:t>
            </a:r>
            <a:r>
              <a:rPr spc="-10" dirty="0"/>
              <a:t>Scheduling</a:t>
            </a:r>
            <a:r>
              <a:rPr spc="-22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411956"/>
            <a:ext cx="6949440" cy="14274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b="1" spc="-10" dirty="0">
                <a:latin typeface="Times New Roman"/>
                <a:cs typeface="Times New Roman"/>
              </a:rPr>
              <a:t>Waiting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Time(WT)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40" dirty="0">
                <a:latin typeface="Times New Roman"/>
                <a:cs typeface="Times New Roman"/>
              </a:rPr>
              <a:t>Time(TAT)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Burst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Time(BT)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20" dirty="0">
                <a:latin typeface="Times New Roman"/>
                <a:cs typeface="Times New Roman"/>
              </a:rPr>
              <a:t>Waiting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Time(WT)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16 –10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813431"/>
            <a:ext cx="106489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18–2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19 </a:t>
            </a:r>
            <a:r>
              <a:rPr sz="2000" spc="-25" dirty="0">
                <a:latin typeface="Times New Roman"/>
                <a:cs typeface="Times New Roman"/>
              </a:rPr>
              <a:t>–1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P5: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–5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3014" y="2813431"/>
            <a:ext cx="84137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 16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 18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 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093845"/>
            <a:ext cx="837692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Average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Waiting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Time(AWT)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 /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R="285115" algn="ctr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processes</a:t>
            </a:r>
            <a:endParaRPr sz="2000">
              <a:latin typeface="Times New Roman"/>
              <a:cs typeface="Times New Roman"/>
            </a:endParaRPr>
          </a:p>
          <a:p>
            <a:pPr marR="2008505" algn="ctr">
              <a:lnSpc>
                <a:spcPct val="100000"/>
              </a:lnSpc>
              <a:spcBef>
                <a:spcPts val="484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Waiting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Time(AWT)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(6+0+16+18+1)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8.2</a:t>
            </a:r>
            <a:r>
              <a:rPr sz="2000" spc="-25" dirty="0">
                <a:latin typeface="Times New Roman"/>
                <a:cs typeface="Times New Roman"/>
              </a:rPr>
              <a:t> 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Note:-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Priority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Scheduling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Either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Preemptive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Non-</a:t>
            </a:r>
            <a:r>
              <a:rPr sz="2000" spc="-10" dirty="0">
                <a:latin typeface="Times New Roman"/>
                <a:cs typeface="Times New Roman"/>
              </a:rPr>
              <a:t>preemptive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Preemptive</a:t>
            </a:r>
            <a:r>
              <a:rPr spc="-75" dirty="0"/>
              <a:t> </a:t>
            </a:r>
            <a:r>
              <a:rPr dirty="0"/>
              <a:t>Priority</a:t>
            </a:r>
            <a:r>
              <a:rPr spc="-65" dirty="0"/>
              <a:t> </a:t>
            </a:r>
            <a:r>
              <a:rPr spc="-10" dirty="0"/>
              <a:t>Scheduling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9450" y="1746250"/>
          <a:ext cx="7238365" cy="23609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6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2965">
                <a:tc>
                  <a:txBody>
                    <a:bodyPr/>
                    <a:lstStyle/>
                    <a:p>
                      <a:pPr marL="146685" marR="136525" indent="165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Sr. 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264160" marR="216535" indent="-355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Burst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Priority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Arrival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604837" y="4893373"/>
            <a:ext cx="7172325" cy="619125"/>
            <a:chOff x="604837" y="4893373"/>
            <a:chExt cx="7172325" cy="619125"/>
          </a:xfrm>
        </p:grpSpPr>
        <p:sp>
          <p:nvSpPr>
            <p:cNvPr id="5" name="object 5"/>
            <p:cNvSpPr/>
            <p:nvPr/>
          </p:nvSpPr>
          <p:spPr>
            <a:xfrm>
              <a:off x="609600" y="4898135"/>
              <a:ext cx="7162800" cy="457200"/>
            </a:xfrm>
            <a:custGeom>
              <a:avLst/>
              <a:gdLst/>
              <a:ahLst/>
              <a:cxnLst/>
              <a:rect l="l" t="t" r="r" b="b"/>
              <a:pathLst>
                <a:path w="7162800" h="457200">
                  <a:moveTo>
                    <a:pt x="7162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162800" y="457200"/>
                  </a:lnTo>
                  <a:lnTo>
                    <a:pt x="7162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" y="4898135"/>
              <a:ext cx="7162800" cy="457200"/>
            </a:xfrm>
            <a:custGeom>
              <a:avLst/>
              <a:gdLst/>
              <a:ahLst/>
              <a:cxnLst/>
              <a:rect l="l" t="t" r="r" b="b"/>
              <a:pathLst>
                <a:path w="7162800" h="457200">
                  <a:moveTo>
                    <a:pt x="0" y="457200"/>
                  </a:moveTo>
                  <a:lnTo>
                    <a:pt x="7162800" y="457200"/>
                  </a:lnTo>
                  <a:lnTo>
                    <a:pt x="7162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968" y="4930152"/>
              <a:ext cx="580644" cy="5821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9155" y="4930152"/>
              <a:ext cx="620242" cy="5821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5940" y="4336160"/>
            <a:ext cx="1938020" cy="939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onstantia"/>
                <a:cs typeface="Constantia"/>
              </a:rPr>
              <a:t>Gantt</a:t>
            </a:r>
            <a:r>
              <a:rPr sz="2800" spc="-14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Chart:</a:t>
            </a:r>
            <a:endParaRPr sz="2800">
              <a:latin typeface="Constantia"/>
              <a:cs typeface="Constantia"/>
            </a:endParaRPr>
          </a:p>
          <a:p>
            <a:pPr marL="542290">
              <a:lnSpc>
                <a:spcPct val="100000"/>
              </a:lnSpc>
              <a:spcBef>
                <a:spcPts val="1675"/>
              </a:spcBef>
              <a:tabLst>
                <a:tab pos="1283970" algn="l"/>
              </a:tabLst>
            </a:pPr>
            <a:r>
              <a:rPr sz="1800" spc="-25" dirty="0">
                <a:latin typeface="Constantia"/>
                <a:cs typeface="Constantia"/>
              </a:rPr>
              <a:t>P1</a:t>
            </a:r>
            <a:r>
              <a:rPr sz="1800" dirty="0">
                <a:latin typeface="Constantia"/>
                <a:cs typeface="Constantia"/>
              </a:rPr>
              <a:t>	</a:t>
            </a:r>
            <a:r>
              <a:rPr sz="1800" spc="-25" dirty="0">
                <a:latin typeface="Constantia"/>
                <a:cs typeface="Constantia"/>
              </a:rPr>
              <a:t>P2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5371" y="4890528"/>
            <a:ext cx="580644" cy="5821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629846" y="4936617"/>
            <a:ext cx="2138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0527" y="4936248"/>
            <a:ext cx="612686" cy="58215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411158" y="4982717"/>
            <a:ext cx="1097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P3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4837" y="4894897"/>
            <a:ext cx="5025390" cy="946785"/>
            <a:chOff x="604837" y="4894897"/>
            <a:chExt cx="5025390" cy="946785"/>
          </a:xfrm>
        </p:grpSpPr>
        <p:sp>
          <p:nvSpPr>
            <p:cNvPr id="15" name="object 15"/>
            <p:cNvSpPr/>
            <p:nvPr/>
          </p:nvSpPr>
          <p:spPr>
            <a:xfrm>
              <a:off x="609600" y="4899659"/>
              <a:ext cx="5015865" cy="483234"/>
            </a:xfrm>
            <a:custGeom>
              <a:avLst/>
              <a:gdLst/>
              <a:ahLst/>
              <a:cxnLst/>
              <a:rect l="l" t="t" r="r" b="b"/>
              <a:pathLst>
                <a:path w="5015865" h="483235">
                  <a:moveTo>
                    <a:pt x="5015484" y="24383"/>
                  </a:moveTo>
                  <a:lnTo>
                    <a:pt x="5015484" y="481583"/>
                  </a:lnTo>
                </a:path>
                <a:path w="5015865" h="483235">
                  <a:moveTo>
                    <a:pt x="1587" y="0"/>
                  </a:moveTo>
                  <a:lnTo>
                    <a:pt x="0" y="457199"/>
                  </a:lnTo>
                </a:path>
                <a:path w="5015865" h="483235">
                  <a:moveTo>
                    <a:pt x="839851" y="15239"/>
                  </a:moveTo>
                  <a:lnTo>
                    <a:pt x="838200" y="472439"/>
                  </a:lnTo>
                </a:path>
                <a:path w="5015865" h="483235">
                  <a:moveTo>
                    <a:pt x="2904744" y="25907"/>
                  </a:moveTo>
                  <a:lnTo>
                    <a:pt x="2903220" y="483107"/>
                  </a:lnTo>
                </a:path>
                <a:path w="5015865" h="483235">
                  <a:moveTo>
                    <a:pt x="1796795" y="12191"/>
                  </a:moveTo>
                  <a:lnTo>
                    <a:pt x="1795272" y="46939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2623" y="5259323"/>
              <a:ext cx="448106" cy="5821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90316" y="5259323"/>
              <a:ext cx="498348" cy="5821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69385" y="5304790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4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23915" y="5273040"/>
            <a:ext cx="499859" cy="58215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603240" y="5318505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8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0459" y="5273040"/>
            <a:ext cx="556234" cy="58215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70038" y="5318505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17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2816" y="5268467"/>
            <a:ext cx="499859" cy="58215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11225" y="5313679"/>
            <a:ext cx="847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2635" algn="l"/>
              </a:tabLst>
            </a:pPr>
            <a:r>
              <a:rPr sz="1800" spc="-50" dirty="0">
                <a:latin typeface="Constantia"/>
                <a:cs typeface="Constantia"/>
              </a:rPr>
              <a:t>0</a:t>
            </a:r>
            <a:r>
              <a:rPr sz="1800" dirty="0">
                <a:latin typeface="Constantia"/>
                <a:cs typeface="Constantia"/>
              </a:rPr>
              <a:t>	</a:t>
            </a:r>
            <a:r>
              <a:rPr sz="2700" spc="-75" baseline="1543" dirty="0">
                <a:latin typeface="Constantia"/>
                <a:cs typeface="Constantia"/>
              </a:rPr>
              <a:t>1</a:t>
            </a:r>
            <a:endParaRPr sz="2700" baseline="1543">
              <a:latin typeface="Constantia"/>
              <a:cs typeface="Constanti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19955" y="4936248"/>
            <a:ext cx="620242" cy="58215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519106" y="4982717"/>
            <a:ext cx="2101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5405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51888" y="5286755"/>
            <a:ext cx="487692" cy="58215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330576" y="5332298"/>
            <a:ext cx="136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2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26245" y="6555667"/>
            <a:ext cx="1790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24</a:t>
            </a:r>
            <a:endParaRPr sz="1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5"/>
              </a:spcBef>
            </a:pPr>
            <a:r>
              <a:rPr dirty="0"/>
              <a:t>Priority</a:t>
            </a:r>
            <a:r>
              <a:rPr spc="5" dirty="0"/>
              <a:t> </a:t>
            </a:r>
            <a:r>
              <a:rPr spc="-10" dirty="0"/>
              <a:t>Scheduling</a:t>
            </a:r>
            <a:r>
              <a:rPr spc="-22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97290" y="6555667"/>
            <a:ext cx="16764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25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95869"/>
            <a:ext cx="7849234" cy="200469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Time: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dirty="0">
                <a:latin typeface="Times New Roman"/>
                <a:cs typeface="Times New Roman"/>
              </a:rPr>
              <a:t>P1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17,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P2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=8,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P3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  <a:spcBef>
                <a:spcPts val="10"/>
              </a:spcBef>
              <a:tabLst>
                <a:tab pos="2875280" algn="l"/>
              </a:tabLst>
            </a:pPr>
            <a:r>
              <a:rPr sz="2100" b="1" spc="-25" dirty="0">
                <a:latin typeface="Times New Roman"/>
                <a:cs typeface="Times New Roman"/>
              </a:rPr>
              <a:t>Turnaround</a:t>
            </a:r>
            <a:r>
              <a:rPr sz="2100" b="1" spc="-105" dirty="0">
                <a:latin typeface="Times New Roman"/>
                <a:cs typeface="Times New Roman"/>
              </a:rPr>
              <a:t> </a:t>
            </a:r>
            <a:r>
              <a:rPr sz="2100" b="1" spc="-40" dirty="0">
                <a:latin typeface="Times New Roman"/>
                <a:cs typeface="Times New Roman"/>
              </a:rPr>
              <a:t>Time(TAT)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=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Completion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Time(CT)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–</a:t>
            </a:r>
            <a:r>
              <a:rPr sz="2100" b="1" spc="-1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Arrival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Time(AT) </a:t>
            </a:r>
            <a:r>
              <a:rPr sz="2100" b="1" spc="-25" dirty="0">
                <a:latin typeface="Times New Roman"/>
                <a:cs typeface="Times New Roman"/>
              </a:rPr>
              <a:t>Turnaround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Time(TAT)</a:t>
            </a:r>
            <a:r>
              <a:rPr sz="2100" b="1" dirty="0">
                <a:latin typeface="Times New Roman"/>
                <a:cs typeface="Times New Roman"/>
              </a:rPr>
              <a:t>	of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each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process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17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17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73958"/>
            <a:ext cx="9994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0529" y="3373958"/>
            <a:ext cx="7131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645533"/>
            <a:ext cx="8211820" cy="925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Times New Roman"/>
                <a:cs typeface="Times New Roman"/>
              </a:rPr>
              <a:t>Average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Turnaround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40" dirty="0">
                <a:latin typeface="Times New Roman"/>
                <a:cs typeface="Times New Roman"/>
              </a:rPr>
              <a:t>Time(ATAT)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Total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turn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around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processes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Total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processes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Time(ATAT)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(17+7+2)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8.6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89747"/>
            <a:ext cx="7688580" cy="1431290"/>
          </a:xfrm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400685">
              <a:lnSpc>
                <a:spcPct val="100000"/>
              </a:lnSpc>
              <a:spcBef>
                <a:spcPts val="2675"/>
              </a:spcBef>
            </a:pPr>
            <a:r>
              <a:rPr dirty="0"/>
              <a:t>Priority</a:t>
            </a:r>
            <a:r>
              <a:rPr spc="5" dirty="0"/>
              <a:t> </a:t>
            </a:r>
            <a:r>
              <a:rPr spc="-10" dirty="0"/>
              <a:t>Scheduling</a:t>
            </a:r>
            <a:r>
              <a:rPr spc="-220" dirty="0"/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800" spc="-10" dirty="0">
                <a:solidFill>
                  <a:srgbClr val="000000"/>
                </a:solidFill>
              </a:rPr>
              <a:t>Waiting</a:t>
            </a:r>
            <a:r>
              <a:rPr sz="1800" spc="-8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Time(WT)</a:t>
            </a:r>
            <a:r>
              <a:rPr sz="1800" spc="-4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=</a:t>
            </a:r>
            <a:r>
              <a:rPr sz="1800" spc="-55" dirty="0">
                <a:solidFill>
                  <a:srgbClr val="000000"/>
                </a:solidFill>
              </a:rPr>
              <a:t> </a:t>
            </a:r>
            <a:r>
              <a:rPr sz="1800" spc="-25" dirty="0">
                <a:solidFill>
                  <a:srgbClr val="000000"/>
                </a:solidFill>
              </a:rPr>
              <a:t>Turnaround</a:t>
            </a:r>
            <a:r>
              <a:rPr sz="1800" spc="-60" dirty="0">
                <a:solidFill>
                  <a:srgbClr val="000000"/>
                </a:solidFill>
              </a:rPr>
              <a:t> </a:t>
            </a:r>
            <a:r>
              <a:rPr sz="1800" spc="-35" dirty="0">
                <a:solidFill>
                  <a:srgbClr val="000000"/>
                </a:solidFill>
              </a:rPr>
              <a:t>Time(TAT)</a:t>
            </a:r>
            <a:r>
              <a:rPr sz="1800" spc="-4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–</a:t>
            </a:r>
            <a:r>
              <a:rPr sz="1800" spc="-3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Burst</a:t>
            </a:r>
            <a:r>
              <a:rPr sz="1800" spc="-6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Time(BT)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8824721" y="6555667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26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79116"/>
            <a:ext cx="341820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Waiting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Time(WT)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each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P1 : 17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 10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7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528442"/>
            <a:ext cx="902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P2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 7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P3 :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1094" y="2528442"/>
            <a:ext cx="647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ms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ms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405962"/>
            <a:ext cx="8378190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imes New Roman"/>
                <a:cs typeface="Times New Roman"/>
              </a:rPr>
              <a:t>Average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Waiting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Time(AWT)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Total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Total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Times New Roman"/>
                <a:cs typeface="Times New Roman"/>
              </a:rPr>
              <a:t>Average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Waiting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Times New Roman"/>
                <a:cs typeface="Times New Roman"/>
              </a:rPr>
              <a:t>Time(AWT)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(7+2+0)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b="1" spc="-10" dirty="0">
                <a:latin typeface="Times New Roman"/>
                <a:cs typeface="Times New Roman"/>
              </a:rPr>
              <a:t>Note:-</a:t>
            </a:r>
            <a:endParaRPr sz="18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5115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priority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shorter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burst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be</a:t>
            </a:r>
            <a:endParaRPr sz="18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executed.</a:t>
            </a:r>
            <a:endParaRPr sz="18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5115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having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burst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executed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FCFS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scheduling.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269" y="726694"/>
            <a:ext cx="609155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Starvation</a:t>
            </a:r>
            <a:r>
              <a:rPr sz="5000" spc="-50" dirty="0"/>
              <a:t> </a:t>
            </a:r>
            <a:r>
              <a:rPr sz="5000" dirty="0"/>
              <a:t>and</a:t>
            </a:r>
            <a:r>
              <a:rPr sz="5000" spc="-285" dirty="0"/>
              <a:t> </a:t>
            </a:r>
            <a:r>
              <a:rPr sz="5000" spc="-10" dirty="0"/>
              <a:t>Ageing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8835390" y="6555667"/>
            <a:ext cx="16891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27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76425"/>
            <a:ext cx="8073390" cy="2221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b="1" dirty="0">
                <a:latin typeface="Times New Roman"/>
                <a:cs typeface="Times New Roman"/>
              </a:rPr>
              <a:t>Starvation</a:t>
            </a:r>
            <a:r>
              <a:rPr sz="2000" b="1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indefinite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blocking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phenomenon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associated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Priority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scheduling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algorithms,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ready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indefinitely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-10" dirty="0">
                <a:latin typeface="Times New Roman"/>
                <a:cs typeface="Times New Roman"/>
              </a:rPr>
              <a:t> priority.</a:t>
            </a:r>
            <a:endParaRPr sz="20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5115" algn="l"/>
              </a:tabLst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avoid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starvation,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concept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Aging.</a:t>
            </a:r>
            <a:r>
              <a:rPr sz="2000" b="1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Aging,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some </a:t>
            </a:r>
            <a:r>
              <a:rPr sz="2000" dirty="0">
                <a:latin typeface="Times New Roman"/>
                <a:cs typeface="Times New Roman"/>
              </a:rPr>
              <a:t>fixed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quantum,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priority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priority </a:t>
            </a:r>
            <a:r>
              <a:rPr sz="2000" dirty="0">
                <a:latin typeface="Times New Roman"/>
                <a:cs typeface="Times New Roman"/>
              </a:rPr>
              <a:t>processes.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time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passes, 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priority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becomes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higher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priority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961390"/>
            <a:ext cx="7873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Round-</a:t>
            </a:r>
            <a:r>
              <a:rPr sz="4000" dirty="0"/>
              <a:t>Robin </a:t>
            </a:r>
            <a:r>
              <a:rPr sz="4000" spc="-20" dirty="0"/>
              <a:t>Scheduling</a:t>
            </a:r>
            <a:r>
              <a:rPr sz="4000" spc="-220" dirty="0"/>
              <a:t> </a:t>
            </a:r>
            <a:r>
              <a:rPr sz="4000" spc="-10" dirty="0"/>
              <a:t>Algorithm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8748521" y="6555667"/>
            <a:ext cx="18034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28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56003"/>
            <a:ext cx="8074025" cy="3593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 designed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especially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time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sharing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systems.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Here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CPU </a:t>
            </a:r>
            <a:r>
              <a:rPr sz="2600" dirty="0">
                <a:latin typeface="Times New Roman"/>
                <a:cs typeface="Times New Roman"/>
              </a:rPr>
              <a:t>switches</a:t>
            </a:r>
            <a:r>
              <a:rPr sz="2600" spc="5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between</a:t>
            </a:r>
            <a:r>
              <a:rPr sz="2600" spc="6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processes.</a:t>
            </a:r>
            <a:r>
              <a:rPr sz="2600" spc="5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When</a:t>
            </a:r>
            <a:r>
              <a:rPr sz="2600" spc="6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6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quantum </a:t>
            </a:r>
            <a:r>
              <a:rPr sz="2600" dirty="0">
                <a:latin typeface="Times New Roman"/>
                <a:cs typeface="Times New Roman"/>
              </a:rPr>
              <a:t>expired,</a:t>
            </a:r>
            <a:r>
              <a:rPr sz="2600" spc="3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CPU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switched</a:t>
            </a:r>
            <a:r>
              <a:rPr sz="2600" spc="3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another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job.</a:t>
            </a:r>
            <a:r>
              <a:rPr sz="2600" spc="3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small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unit</a:t>
            </a:r>
            <a:r>
              <a:rPr sz="2600" spc="3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time,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called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quantum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slice.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quantum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generally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10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100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ms.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quantum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generally </a:t>
            </a:r>
            <a:r>
              <a:rPr sz="2600" dirty="0">
                <a:latin typeface="Times New Roman"/>
                <a:cs typeface="Times New Roman"/>
              </a:rPr>
              <a:t>depending</a:t>
            </a:r>
            <a:r>
              <a:rPr sz="2600" spc="5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5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OS.</a:t>
            </a:r>
            <a:r>
              <a:rPr sz="2600" spc="5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Here</a:t>
            </a:r>
            <a:r>
              <a:rPr sz="2600" spc="5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ready</a:t>
            </a:r>
            <a:r>
              <a:rPr sz="2600" spc="5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queue</a:t>
            </a:r>
            <a:r>
              <a:rPr sz="2600" spc="5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5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6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circular</a:t>
            </a:r>
            <a:r>
              <a:rPr sz="2600" spc="5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queue. </a:t>
            </a:r>
            <a:r>
              <a:rPr sz="2600" dirty="0">
                <a:latin typeface="Times New Roman"/>
                <a:cs typeface="Times New Roman"/>
              </a:rPr>
              <a:t>CPU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scheduler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picks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first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 ready queue,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sets </a:t>
            </a:r>
            <a:r>
              <a:rPr sz="2600" dirty="0">
                <a:latin typeface="Times New Roman"/>
                <a:cs typeface="Times New Roman"/>
              </a:rPr>
              <a:t>timer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interrupt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after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quantum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dispatches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process.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580390"/>
            <a:ext cx="7873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Round-</a:t>
            </a:r>
            <a:r>
              <a:rPr sz="4000" dirty="0"/>
              <a:t>Robin </a:t>
            </a:r>
            <a:r>
              <a:rPr sz="4000" spc="-20" dirty="0"/>
              <a:t>Scheduling</a:t>
            </a:r>
            <a:r>
              <a:rPr sz="4000" spc="-220" dirty="0"/>
              <a:t> </a:t>
            </a:r>
            <a:r>
              <a:rPr sz="4000" spc="-10" dirty="0"/>
              <a:t>Algorithm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38048" y="3615513"/>
            <a:ext cx="2467610" cy="9391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664845" algn="l"/>
              </a:tabLst>
            </a:pPr>
            <a:r>
              <a:rPr sz="2000" spc="-20" dirty="0">
                <a:latin typeface="Times New Roman"/>
                <a:cs typeface="Times New Roman"/>
              </a:rPr>
              <a:t>Time</a:t>
            </a:r>
            <a:r>
              <a:rPr sz="2000" dirty="0">
                <a:latin typeface="Times New Roman"/>
                <a:cs typeface="Times New Roman"/>
              </a:rPr>
              <a:t>	Quantum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800" spc="-10" dirty="0">
                <a:latin typeface="Constantia"/>
                <a:cs typeface="Constantia"/>
              </a:rPr>
              <a:t>Gantt</a:t>
            </a:r>
            <a:r>
              <a:rPr sz="2800" spc="-14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Chart:</a:t>
            </a:r>
            <a:endParaRPr sz="2800">
              <a:latin typeface="Constantia"/>
              <a:cs typeface="Constant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65250" y="1517650"/>
          <a:ext cx="5485129" cy="2007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3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Sr.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Burst</a:t>
                      </a:r>
                      <a:r>
                        <a:rPr sz="1600" b="1" spc="-9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P4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5" dirty="0">
                          <a:latin typeface="Constantia"/>
                          <a:cs typeface="Constantia"/>
                        </a:rPr>
                        <a:t>P5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0953" y="4872037"/>
            <a:ext cx="7172325" cy="588645"/>
            <a:chOff x="770953" y="4872037"/>
            <a:chExt cx="7172325" cy="588645"/>
          </a:xfrm>
        </p:grpSpPr>
        <p:sp>
          <p:nvSpPr>
            <p:cNvPr id="6" name="object 6"/>
            <p:cNvSpPr/>
            <p:nvPr/>
          </p:nvSpPr>
          <p:spPr>
            <a:xfrm>
              <a:off x="775716" y="4876800"/>
              <a:ext cx="7162800" cy="457200"/>
            </a:xfrm>
            <a:custGeom>
              <a:avLst/>
              <a:gdLst/>
              <a:ahLst/>
              <a:cxnLst/>
              <a:rect l="l" t="t" r="r" b="b"/>
              <a:pathLst>
                <a:path w="7162800" h="457200">
                  <a:moveTo>
                    <a:pt x="7162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162800" y="457200"/>
                  </a:lnTo>
                  <a:lnTo>
                    <a:pt x="7162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716" y="4876800"/>
              <a:ext cx="7162800" cy="457200"/>
            </a:xfrm>
            <a:custGeom>
              <a:avLst/>
              <a:gdLst/>
              <a:ahLst/>
              <a:cxnLst/>
              <a:rect l="l" t="t" r="r" b="b"/>
              <a:pathLst>
                <a:path w="7162800" h="457200">
                  <a:moveTo>
                    <a:pt x="0" y="457200"/>
                  </a:moveTo>
                  <a:lnTo>
                    <a:pt x="7162800" y="457200"/>
                  </a:lnTo>
                  <a:lnTo>
                    <a:pt x="7162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196" y="4878336"/>
              <a:ext cx="580643" cy="5821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80478" y="4923790"/>
            <a:ext cx="662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9155" y="4919484"/>
            <a:ext cx="620242" cy="5821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73263" y="4965319"/>
            <a:ext cx="884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0111" y="4910340"/>
            <a:ext cx="612686" cy="58215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366962" y="4955540"/>
            <a:ext cx="746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P3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43037" y="4833937"/>
            <a:ext cx="4705350" cy="956310"/>
            <a:chOff x="1443037" y="4833937"/>
            <a:chExt cx="4705350" cy="956310"/>
          </a:xfrm>
        </p:grpSpPr>
        <p:sp>
          <p:nvSpPr>
            <p:cNvPr id="15" name="object 15"/>
            <p:cNvSpPr/>
            <p:nvPr/>
          </p:nvSpPr>
          <p:spPr>
            <a:xfrm>
              <a:off x="3753611" y="4892039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39411" y="4838700"/>
              <a:ext cx="1905" cy="533400"/>
            </a:xfrm>
            <a:custGeom>
              <a:avLst/>
              <a:gdLst/>
              <a:ahLst/>
              <a:cxnLst/>
              <a:rect l="l" t="t" r="r" b="b"/>
              <a:pathLst>
                <a:path w="1904" h="533400">
                  <a:moveTo>
                    <a:pt x="1650" y="0"/>
                  </a:moveTo>
                  <a:lnTo>
                    <a:pt x="0" y="53340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47800" y="4838700"/>
              <a:ext cx="1671955" cy="533400"/>
            </a:xfrm>
            <a:custGeom>
              <a:avLst/>
              <a:gdLst/>
              <a:ahLst/>
              <a:cxnLst/>
              <a:rect l="l" t="t" r="r" b="b"/>
              <a:pathLst>
                <a:path w="1671955" h="533400">
                  <a:moveTo>
                    <a:pt x="20700" y="70104"/>
                  </a:moveTo>
                  <a:lnTo>
                    <a:pt x="0" y="495553"/>
                  </a:lnTo>
                </a:path>
                <a:path w="1671955" h="533400">
                  <a:moveTo>
                    <a:pt x="1671955" y="0"/>
                  </a:moveTo>
                  <a:lnTo>
                    <a:pt x="1670304" y="533400"/>
                  </a:lnTo>
                </a:path>
                <a:path w="1671955" h="533400">
                  <a:moveTo>
                    <a:pt x="914400" y="38100"/>
                  </a:moveTo>
                  <a:lnTo>
                    <a:pt x="914400" y="495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8508" y="5207508"/>
              <a:ext cx="559333" cy="58215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66308" y="5252161"/>
            <a:ext cx="208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96683" y="5248655"/>
            <a:ext cx="553212" cy="58215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176261" y="5293867"/>
            <a:ext cx="20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35240" y="5231891"/>
            <a:ext cx="571500" cy="58215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814818" y="5277103"/>
            <a:ext cx="219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19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9016" y="5190744"/>
            <a:ext cx="499859" cy="58215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87425" y="5235955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0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28744" y="4833937"/>
            <a:ext cx="2853690" cy="687705"/>
            <a:chOff x="4428744" y="4833937"/>
            <a:chExt cx="2853690" cy="687705"/>
          </a:xfrm>
        </p:grpSpPr>
        <p:sp>
          <p:nvSpPr>
            <p:cNvPr id="27" name="object 27"/>
            <p:cNvSpPr/>
            <p:nvPr/>
          </p:nvSpPr>
          <p:spPr>
            <a:xfrm>
              <a:off x="5128260" y="4838700"/>
              <a:ext cx="2148840" cy="511809"/>
            </a:xfrm>
            <a:custGeom>
              <a:avLst/>
              <a:gdLst/>
              <a:ahLst/>
              <a:cxnLst/>
              <a:rect l="l" t="t" r="r" b="b"/>
              <a:pathLst>
                <a:path w="2148840" h="511810">
                  <a:moveTo>
                    <a:pt x="1650" y="21336"/>
                  </a:moveTo>
                  <a:lnTo>
                    <a:pt x="0" y="478536"/>
                  </a:lnTo>
                </a:path>
                <a:path w="2148840" h="511810">
                  <a:moveTo>
                    <a:pt x="746760" y="70104"/>
                  </a:moveTo>
                  <a:lnTo>
                    <a:pt x="770509" y="511428"/>
                  </a:lnTo>
                </a:path>
                <a:path w="2148840" h="511810">
                  <a:moveTo>
                    <a:pt x="2148840" y="0"/>
                  </a:moveTo>
                  <a:lnTo>
                    <a:pt x="2147316" y="457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28744" y="4939296"/>
              <a:ext cx="580644" cy="58215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445825" y="4985130"/>
            <a:ext cx="678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60264" y="4901196"/>
            <a:ext cx="617220" cy="58215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134673" y="4947030"/>
            <a:ext cx="735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07023" y="4872037"/>
            <a:ext cx="580644" cy="63874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098794" y="497471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36435" y="4895100"/>
            <a:ext cx="617220" cy="58215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728206" y="494118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24343" y="4895100"/>
            <a:ext cx="580644" cy="582155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281862" y="4941189"/>
            <a:ext cx="652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089148" y="4908816"/>
            <a:ext cx="630974" cy="582155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124517" y="4954904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P4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44467" y="4879860"/>
            <a:ext cx="617220" cy="582155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3758374" y="4925314"/>
            <a:ext cx="67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62811" y="5227320"/>
            <a:ext cx="487692" cy="582155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1341500" y="5273166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04644" y="5231891"/>
            <a:ext cx="480059" cy="582155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2282698" y="5277992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3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59023" y="5231891"/>
            <a:ext cx="484670" cy="582155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3037077" y="5277992"/>
            <a:ext cx="134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512820" y="5242559"/>
            <a:ext cx="499859" cy="582155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3691254" y="5289041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6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00144" y="5225796"/>
            <a:ext cx="499859" cy="582155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4379214" y="5271642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8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835652" y="5248655"/>
            <a:ext cx="571500" cy="582155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5014086" y="5293867"/>
            <a:ext cx="2209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10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54" name="object 5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225540" y="5259323"/>
            <a:ext cx="569988" cy="582155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6404864" y="5305805"/>
            <a:ext cx="219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14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748521" y="6555667"/>
            <a:ext cx="17843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25" dirty="0">
                <a:solidFill>
                  <a:srgbClr val="045C75"/>
                </a:solidFill>
                <a:latin typeface="Constantia"/>
                <a:cs typeface="Constantia"/>
              </a:rPr>
              <a:t>29</a:t>
            </a:r>
            <a:endParaRPr sz="1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580390"/>
            <a:ext cx="7873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Round-</a:t>
            </a:r>
            <a:r>
              <a:rPr sz="4000" dirty="0"/>
              <a:t>Robin </a:t>
            </a:r>
            <a:r>
              <a:rPr sz="4000" spc="-20" dirty="0"/>
              <a:t>Scheduling</a:t>
            </a:r>
            <a:r>
              <a:rPr sz="4000" spc="-220" dirty="0"/>
              <a:t> </a:t>
            </a:r>
            <a:r>
              <a:rPr sz="4000" spc="-10" dirty="0"/>
              <a:t>Algorithm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24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95869"/>
            <a:ext cx="7849234" cy="200469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Time: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dirty="0">
                <a:latin typeface="Times New Roman"/>
                <a:cs typeface="Times New Roman"/>
              </a:rPr>
              <a:t>P1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P2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=3,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P3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P4=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6,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P5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15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  <a:spcBef>
                <a:spcPts val="10"/>
              </a:spcBef>
              <a:tabLst>
                <a:tab pos="2875280" algn="l"/>
              </a:tabLst>
            </a:pPr>
            <a:r>
              <a:rPr sz="2100" b="1" spc="-25" dirty="0">
                <a:latin typeface="Times New Roman"/>
                <a:cs typeface="Times New Roman"/>
              </a:rPr>
              <a:t>Turnaround</a:t>
            </a:r>
            <a:r>
              <a:rPr sz="2100" b="1" spc="-105" dirty="0">
                <a:latin typeface="Times New Roman"/>
                <a:cs typeface="Times New Roman"/>
              </a:rPr>
              <a:t> </a:t>
            </a:r>
            <a:r>
              <a:rPr sz="2100" b="1" spc="-40" dirty="0">
                <a:latin typeface="Times New Roman"/>
                <a:cs typeface="Times New Roman"/>
              </a:rPr>
              <a:t>Time(TAT)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=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Completion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Time(CT)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–</a:t>
            </a:r>
            <a:r>
              <a:rPr sz="2100" b="1" spc="-1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Arrival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Time(AT) </a:t>
            </a:r>
            <a:r>
              <a:rPr sz="2100" b="1" spc="-25" dirty="0">
                <a:latin typeface="Times New Roman"/>
                <a:cs typeface="Times New Roman"/>
              </a:rPr>
              <a:t>Turnaround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Time(TAT)</a:t>
            </a:r>
            <a:r>
              <a:rPr sz="2100" b="1" dirty="0">
                <a:latin typeface="Times New Roman"/>
                <a:cs typeface="Times New Roman"/>
              </a:rPr>
              <a:t>	of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each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process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19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19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73958"/>
            <a:ext cx="99949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P4: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0529" y="3373958"/>
            <a:ext cx="7131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288916"/>
            <a:ext cx="8211820" cy="1294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P5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15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20" dirty="0">
                <a:latin typeface="Times New Roman"/>
                <a:cs typeface="Times New Roman"/>
              </a:rPr>
              <a:t>Average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Turnaround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40" dirty="0">
                <a:latin typeface="Times New Roman"/>
                <a:cs typeface="Times New Roman"/>
              </a:rPr>
              <a:t>Time(ATAT)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Total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turn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around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processes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Total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processes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Time(ATAT)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 </a:t>
            </a:r>
            <a:r>
              <a:rPr sz="2000" dirty="0">
                <a:latin typeface="Times New Roman"/>
                <a:cs typeface="Times New Roman"/>
              </a:rPr>
              <a:t>(19+3+5+6+15)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9.6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580390"/>
            <a:ext cx="7873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Round-</a:t>
            </a:r>
            <a:r>
              <a:rPr sz="4000" dirty="0"/>
              <a:t>Robin </a:t>
            </a:r>
            <a:r>
              <a:rPr sz="4000" spc="-20" dirty="0"/>
              <a:t>Scheduling</a:t>
            </a:r>
            <a:r>
              <a:rPr sz="4000" spc="-220" dirty="0"/>
              <a:t> </a:t>
            </a:r>
            <a:r>
              <a:rPr sz="4000" spc="-10" dirty="0"/>
              <a:t>Algorithm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24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11956"/>
            <a:ext cx="6949440" cy="14274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b="1" spc="-10" dirty="0">
                <a:latin typeface="Times New Roman"/>
                <a:cs typeface="Times New Roman"/>
              </a:rPr>
              <a:t>Waiting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Time(WT)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40" dirty="0">
                <a:latin typeface="Times New Roman"/>
                <a:cs typeface="Times New Roman"/>
              </a:rPr>
              <a:t>Time(TAT)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Burst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Time(BT)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20" dirty="0">
                <a:latin typeface="Times New Roman"/>
                <a:cs typeface="Times New Roman"/>
              </a:rPr>
              <a:t>Waiting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Time(WT)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19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9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813431"/>
            <a:ext cx="106299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5– </a:t>
            </a: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P4: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P5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15–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3014" y="2813431"/>
            <a:ext cx="84137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= 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 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 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 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398645"/>
            <a:ext cx="837692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Average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Waiting </a:t>
            </a:r>
            <a:r>
              <a:rPr sz="2000" b="1" spc="-20" dirty="0">
                <a:latin typeface="Times New Roman"/>
                <a:cs typeface="Times New Roman"/>
              </a:rPr>
              <a:t>Time(AWT)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 /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R="401320" algn="ctr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processes</a:t>
            </a:r>
            <a:endParaRPr sz="2000">
              <a:latin typeface="Times New Roman"/>
              <a:cs typeface="Times New Roman"/>
            </a:endParaRPr>
          </a:p>
          <a:p>
            <a:pPr marR="2136775" algn="ctr">
              <a:lnSpc>
                <a:spcPct val="100000"/>
              </a:lnSpc>
              <a:spcBef>
                <a:spcPts val="484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Waiting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Time(AWT)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(9+2+3+5+10)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5.8</a:t>
            </a:r>
            <a:r>
              <a:rPr sz="2000" spc="-25" dirty="0">
                <a:latin typeface="Times New Roman"/>
                <a:cs typeface="Times New Roman"/>
              </a:rPr>
              <a:t> 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382269"/>
            <a:ext cx="7873365" cy="1066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Round-</a:t>
            </a:r>
            <a:r>
              <a:rPr sz="4000" dirty="0"/>
              <a:t>Robin </a:t>
            </a:r>
            <a:r>
              <a:rPr sz="4000" spc="-20" dirty="0"/>
              <a:t>Scheduling</a:t>
            </a:r>
            <a:r>
              <a:rPr sz="4000" spc="-220" dirty="0"/>
              <a:t> </a:t>
            </a:r>
            <a:r>
              <a:rPr sz="4000" spc="-10" dirty="0"/>
              <a:t>Algorithm</a:t>
            </a:r>
            <a:endParaRPr sz="4000"/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800" b="0" dirty="0">
                <a:latin typeface="Times New Roman"/>
                <a:cs typeface="Times New Roman"/>
              </a:rPr>
              <a:t>when</a:t>
            </a:r>
            <a:r>
              <a:rPr sz="2800" b="0" spc="-25" dirty="0">
                <a:latin typeface="Times New Roman"/>
                <a:cs typeface="Times New Roman"/>
              </a:rPr>
              <a:t> </a:t>
            </a:r>
            <a:r>
              <a:rPr sz="2800" b="0" dirty="0">
                <a:latin typeface="Times New Roman"/>
                <a:cs typeface="Times New Roman"/>
              </a:rPr>
              <a:t>arrival</a:t>
            </a:r>
            <a:r>
              <a:rPr sz="2800" b="0" spc="-45" dirty="0">
                <a:latin typeface="Times New Roman"/>
                <a:cs typeface="Times New Roman"/>
              </a:rPr>
              <a:t> </a:t>
            </a:r>
            <a:r>
              <a:rPr sz="2800" b="0" dirty="0">
                <a:latin typeface="Times New Roman"/>
                <a:cs typeface="Times New Roman"/>
              </a:rPr>
              <a:t>time</a:t>
            </a:r>
            <a:r>
              <a:rPr sz="2800" b="0" spc="-35" dirty="0">
                <a:latin typeface="Times New Roman"/>
                <a:cs typeface="Times New Roman"/>
              </a:rPr>
              <a:t> </a:t>
            </a:r>
            <a:r>
              <a:rPr sz="2800" b="0" dirty="0">
                <a:latin typeface="Times New Roman"/>
                <a:cs typeface="Times New Roman"/>
              </a:rPr>
              <a:t>is</a:t>
            </a:r>
            <a:r>
              <a:rPr sz="2800" b="0" spc="-25" dirty="0">
                <a:latin typeface="Times New Roman"/>
                <a:cs typeface="Times New Roman"/>
              </a:rPr>
              <a:t> </a:t>
            </a:r>
            <a:r>
              <a:rPr sz="2800" b="0" spc="-10" dirty="0">
                <a:latin typeface="Times New Roman"/>
                <a:cs typeface="Times New Roman"/>
              </a:rPr>
              <a:t>given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3848656"/>
            <a:ext cx="3127375" cy="9391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700"/>
              </a:spcBef>
              <a:tabLst>
                <a:tab pos="843280" algn="l"/>
              </a:tabLst>
            </a:pPr>
            <a:r>
              <a:rPr sz="2000" spc="-20" dirty="0">
                <a:latin typeface="Times New Roman"/>
                <a:cs typeface="Times New Roman"/>
              </a:rPr>
              <a:t>Time</a:t>
            </a:r>
            <a:r>
              <a:rPr sz="2000" dirty="0">
                <a:latin typeface="Times New Roman"/>
                <a:cs typeface="Times New Roman"/>
              </a:rPr>
              <a:t>	Quantum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(TQ)=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800" spc="-10" dirty="0">
                <a:latin typeface="Constantia"/>
                <a:cs typeface="Constantia"/>
              </a:rPr>
              <a:t>Gantt</a:t>
            </a:r>
            <a:r>
              <a:rPr sz="2800" spc="-14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Chart:</a:t>
            </a:r>
            <a:endParaRPr sz="2800">
              <a:latin typeface="Constantia"/>
              <a:cs typeface="Constant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3521" y="4948237"/>
            <a:ext cx="7172325" cy="674370"/>
            <a:chOff x="743521" y="4948237"/>
            <a:chExt cx="7172325" cy="674370"/>
          </a:xfrm>
        </p:grpSpPr>
        <p:sp>
          <p:nvSpPr>
            <p:cNvPr id="5" name="object 5"/>
            <p:cNvSpPr/>
            <p:nvPr/>
          </p:nvSpPr>
          <p:spPr>
            <a:xfrm>
              <a:off x="748283" y="4953000"/>
              <a:ext cx="7162800" cy="457200"/>
            </a:xfrm>
            <a:custGeom>
              <a:avLst/>
              <a:gdLst/>
              <a:ahLst/>
              <a:cxnLst/>
              <a:rect l="l" t="t" r="r" b="b"/>
              <a:pathLst>
                <a:path w="7162800" h="457200">
                  <a:moveTo>
                    <a:pt x="7162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162800" y="457200"/>
                  </a:lnTo>
                  <a:lnTo>
                    <a:pt x="7162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8283" y="4953000"/>
              <a:ext cx="7162800" cy="457200"/>
            </a:xfrm>
            <a:custGeom>
              <a:avLst/>
              <a:gdLst/>
              <a:ahLst/>
              <a:cxnLst/>
              <a:rect l="l" t="t" r="r" b="b"/>
              <a:pathLst>
                <a:path w="7162800" h="457200">
                  <a:moveTo>
                    <a:pt x="0" y="457200"/>
                  </a:moveTo>
                  <a:lnTo>
                    <a:pt x="7162800" y="457200"/>
                  </a:lnTo>
                  <a:lnTo>
                    <a:pt x="7162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967" y="5039868"/>
              <a:ext cx="580644" cy="5821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3727" y="5039868"/>
              <a:ext cx="612686" cy="5821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53046" y="5085410"/>
            <a:ext cx="14903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00"/>
              </a:spcBef>
              <a:tabLst>
                <a:tab pos="1071880" algn="l"/>
              </a:tabLst>
            </a:pPr>
            <a:r>
              <a:rPr sz="1800" spc="-25" dirty="0">
                <a:latin typeface="Constantia"/>
                <a:cs typeface="Constantia"/>
              </a:rPr>
              <a:t>P1</a:t>
            </a:r>
            <a:r>
              <a:rPr sz="1800" dirty="0">
                <a:latin typeface="Constantia"/>
                <a:cs typeface="Constantia"/>
              </a:rPr>
              <a:t>	</a:t>
            </a:r>
            <a:r>
              <a:rPr sz="1800" spc="-25" dirty="0">
                <a:latin typeface="Constantia"/>
                <a:cs typeface="Constantia"/>
              </a:rPr>
              <a:t>P3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4767" y="5055108"/>
            <a:ext cx="580644" cy="5821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252662" y="5100954"/>
            <a:ext cx="636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04937" y="4961953"/>
            <a:ext cx="6076950" cy="1010919"/>
            <a:chOff x="1404937" y="4961953"/>
            <a:chExt cx="6076950" cy="1010919"/>
          </a:xfrm>
        </p:grpSpPr>
        <p:sp>
          <p:nvSpPr>
            <p:cNvPr id="13" name="object 13"/>
            <p:cNvSpPr/>
            <p:nvPr/>
          </p:nvSpPr>
          <p:spPr>
            <a:xfrm>
              <a:off x="1409700" y="4966715"/>
              <a:ext cx="2933700" cy="550545"/>
            </a:xfrm>
            <a:custGeom>
              <a:avLst/>
              <a:gdLst/>
              <a:ahLst/>
              <a:cxnLst/>
              <a:rect l="l" t="t" r="r" b="b"/>
              <a:pathLst>
                <a:path w="2933700" h="550545">
                  <a:moveTo>
                    <a:pt x="2324100" y="15239"/>
                  </a:moveTo>
                  <a:lnTo>
                    <a:pt x="2324100" y="472439"/>
                  </a:lnTo>
                </a:path>
                <a:path w="2933700" h="550545">
                  <a:moveTo>
                    <a:pt x="2903220" y="0"/>
                  </a:moveTo>
                  <a:lnTo>
                    <a:pt x="2933319" y="480948"/>
                  </a:lnTo>
                </a:path>
                <a:path w="2933700" h="550545">
                  <a:moveTo>
                    <a:pt x="0" y="24383"/>
                  </a:moveTo>
                  <a:lnTo>
                    <a:pt x="14350" y="435609"/>
                  </a:lnTo>
                </a:path>
                <a:path w="2933700" h="550545">
                  <a:moveTo>
                    <a:pt x="1485900" y="16763"/>
                  </a:moveTo>
                  <a:lnTo>
                    <a:pt x="1484376" y="550163"/>
                  </a:lnTo>
                </a:path>
                <a:path w="2933700" h="550545">
                  <a:moveTo>
                    <a:pt x="838200" y="0"/>
                  </a:moveTo>
                  <a:lnTo>
                    <a:pt x="838200" y="4571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3728" y="5390387"/>
              <a:ext cx="611098" cy="5821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3052" y="5349239"/>
              <a:ext cx="588276" cy="58215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071741" y="5394756"/>
            <a:ext cx="236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23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80376" y="5346191"/>
            <a:ext cx="592810" cy="58215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759700" y="539231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25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9016" y="5285232"/>
            <a:ext cx="499859" cy="58215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87425" y="5330444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0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00728" y="4932997"/>
            <a:ext cx="2851785" cy="712470"/>
            <a:chOff x="4300728" y="4932997"/>
            <a:chExt cx="2851785" cy="712470"/>
          </a:xfrm>
        </p:grpSpPr>
        <p:sp>
          <p:nvSpPr>
            <p:cNvPr id="22" name="object 22"/>
            <p:cNvSpPr/>
            <p:nvPr/>
          </p:nvSpPr>
          <p:spPr>
            <a:xfrm>
              <a:off x="4989576" y="5004815"/>
              <a:ext cx="1905" cy="457200"/>
            </a:xfrm>
            <a:custGeom>
              <a:avLst/>
              <a:gdLst/>
              <a:ahLst/>
              <a:cxnLst/>
              <a:rect l="l" t="t" r="r" b="b"/>
              <a:pathLst>
                <a:path w="1904" h="457200">
                  <a:moveTo>
                    <a:pt x="1524" y="0"/>
                  </a:moveTo>
                  <a:lnTo>
                    <a:pt x="0" y="4571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21096" y="4966715"/>
              <a:ext cx="666115" cy="533400"/>
            </a:xfrm>
            <a:custGeom>
              <a:avLst/>
              <a:gdLst/>
              <a:ahLst/>
              <a:cxnLst/>
              <a:rect l="l" t="t" r="r" b="b"/>
              <a:pathLst>
                <a:path w="666114" h="533400">
                  <a:moveTo>
                    <a:pt x="1650" y="0"/>
                  </a:moveTo>
                  <a:lnTo>
                    <a:pt x="0" y="533399"/>
                  </a:lnTo>
                </a:path>
                <a:path w="666114" h="533400">
                  <a:moveTo>
                    <a:pt x="666114" y="0"/>
                  </a:moveTo>
                  <a:lnTo>
                    <a:pt x="664463" y="5333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46036" y="4937759"/>
              <a:ext cx="1905" cy="457200"/>
            </a:xfrm>
            <a:custGeom>
              <a:avLst/>
              <a:gdLst/>
              <a:ahLst/>
              <a:cxnLst/>
              <a:rect l="l" t="t" r="r" b="b"/>
              <a:pathLst>
                <a:path w="1904" h="457200">
                  <a:moveTo>
                    <a:pt x="1524" y="0"/>
                  </a:moveTo>
                  <a:lnTo>
                    <a:pt x="0" y="4571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00728" y="5062727"/>
              <a:ext cx="612686" cy="58215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347781" y="5107940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P3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59679" y="5039867"/>
            <a:ext cx="617220" cy="58215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4995862" y="5085410"/>
            <a:ext cx="720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3767" y="5055108"/>
            <a:ext cx="580643" cy="58215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727509" y="5100954"/>
            <a:ext cx="653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10528" y="4998732"/>
            <a:ext cx="612686" cy="58215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391973" y="5043678"/>
            <a:ext cx="74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P3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45680" y="4991112"/>
            <a:ext cx="617220" cy="58215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7152322" y="5036566"/>
            <a:ext cx="754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P5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70276" y="5009388"/>
            <a:ext cx="620242" cy="58215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2900362" y="5055184"/>
            <a:ext cx="8286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P2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81984" y="5055108"/>
            <a:ext cx="630974" cy="582155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738562" y="5100954"/>
            <a:ext cx="569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P4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81100" y="5306567"/>
            <a:ext cx="480060" cy="582155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358900" y="5352694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3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94916" y="5382767"/>
            <a:ext cx="499859" cy="582155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173604" y="5428894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6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679192" y="5337047"/>
            <a:ext cx="501370" cy="582155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858261" y="5382869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tantia"/>
                <a:cs typeface="Constantia"/>
              </a:rPr>
              <a:t>9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432047" y="5344667"/>
            <a:ext cx="519658" cy="582155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3611117" y="5390794"/>
            <a:ext cx="168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11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93464" y="5337047"/>
            <a:ext cx="569988" cy="582155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4272534" y="5382869"/>
            <a:ext cx="219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14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785359" y="5355335"/>
            <a:ext cx="556234" cy="582155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4964684" y="5401767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tantia"/>
                <a:cs typeface="Constantia"/>
              </a:rPr>
              <a:t>17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51" name="object 5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059423" y="5390388"/>
            <a:ext cx="598931" cy="582155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5623052" y="5436819"/>
            <a:ext cx="863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8015" algn="l"/>
              </a:tabLst>
            </a:pPr>
            <a:r>
              <a:rPr sz="1800" spc="-25" dirty="0">
                <a:latin typeface="Constantia"/>
                <a:cs typeface="Constantia"/>
              </a:rPr>
              <a:t>20</a:t>
            </a:r>
            <a:r>
              <a:rPr sz="1800" dirty="0">
                <a:latin typeface="Constantia"/>
                <a:cs typeface="Constantia"/>
              </a:rPr>
              <a:t>	</a:t>
            </a:r>
            <a:r>
              <a:rPr sz="1800" spc="-25" dirty="0">
                <a:latin typeface="Constantia"/>
                <a:cs typeface="Constantia"/>
              </a:rPr>
              <a:t>22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24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1136650" y="1593850"/>
          <a:ext cx="7011033" cy="2283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3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S.No.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Arrival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(AT)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Burst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Time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(BT)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P1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0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8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5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3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P3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7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4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P4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6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3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4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P5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8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nstantia"/>
                          <a:cs typeface="Constantia"/>
                        </a:rPr>
                        <a:t>5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580390"/>
            <a:ext cx="7873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Round-</a:t>
            </a:r>
            <a:r>
              <a:rPr sz="4000" dirty="0"/>
              <a:t>Robin </a:t>
            </a:r>
            <a:r>
              <a:rPr sz="4000" spc="-20" dirty="0"/>
              <a:t>Scheduling</a:t>
            </a:r>
            <a:r>
              <a:rPr sz="4000" spc="-220" dirty="0"/>
              <a:t> </a:t>
            </a:r>
            <a:r>
              <a:rPr sz="4000" spc="-10" dirty="0"/>
              <a:t>Algorithm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24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11956"/>
            <a:ext cx="8378825" cy="441515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b="1" dirty="0">
                <a:latin typeface="Times New Roman"/>
                <a:cs typeface="Times New Roman"/>
              </a:rPr>
              <a:t>Completion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Time: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22,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=11,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P4=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14,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25</a:t>
            </a:r>
            <a:endParaRPr sz="2000">
              <a:latin typeface="Times New Roman"/>
              <a:cs typeface="Times New Roman"/>
            </a:endParaRPr>
          </a:p>
          <a:p>
            <a:pPr marL="12700" marR="1174115">
              <a:lnSpc>
                <a:spcPct val="120000"/>
              </a:lnSpc>
              <a:spcBef>
                <a:spcPts val="5"/>
              </a:spcBef>
              <a:tabLst>
                <a:tab pos="2530475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40" dirty="0">
                <a:latin typeface="Times New Roman"/>
                <a:cs typeface="Times New Roman"/>
              </a:rPr>
              <a:t>Time(TAT)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Time(CT)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Arrival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Time(AT) Turnaround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Time(TAT)</a:t>
            </a:r>
            <a:r>
              <a:rPr sz="2000" dirty="0">
                <a:latin typeface="Times New Roman"/>
                <a:cs typeface="Times New Roman"/>
              </a:rPr>
              <a:t>	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22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11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22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76655" algn="l"/>
              </a:tabLst>
            </a:pPr>
            <a:r>
              <a:rPr sz="2000" dirty="0">
                <a:latin typeface="Times New Roman"/>
                <a:cs typeface="Times New Roman"/>
              </a:rPr>
              <a:t>P4: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0" dirty="0">
                <a:latin typeface="Times New Roman"/>
                <a:cs typeface="Times New Roman"/>
              </a:rPr>
              <a:t>6</a:t>
            </a:r>
            <a:r>
              <a:rPr sz="2000" dirty="0">
                <a:latin typeface="Times New Roman"/>
                <a:cs typeface="Times New Roman"/>
              </a:rPr>
              <a:t>	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25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17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Average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Turnaround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spc="-40" dirty="0">
                <a:latin typeface="Times New Roman"/>
                <a:cs typeface="Times New Roman"/>
              </a:rPr>
              <a:t>Time(ATAT)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turn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around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/</a:t>
            </a:r>
            <a:endParaRPr sz="2000">
              <a:latin typeface="Times New Roman"/>
              <a:cs typeface="Times New Roman"/>
            </a:endParaRPr>
          </a:p>
          <a:p>
            <a:pPr marL="4076065">
              <a:lnSpc>
                <a:spcPct val="100000"/>
              </a:lnSpc>
              <a:spcBef>
                <a:spcPts val="5"/>
              </a:spcBef>
              <a:tabLst>
                <a:tab pos="5440045" algn="l"/>
              </a:tabLst>
            </a:pPr>
            <a:r>
              <a:rPr sz="2000" spc="-20" dirty="0">
                <a:latin typeface="Times New Roman"/>
                <a:cs typeface="Times New Roman"/>
              </a:rPr>
              <a:t>Total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processes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20" dirty="0">
                <a:latin typeface="Times New Roman"/>
                <a:cs typeface="Times New Roman"/>
              </a:rPr>
              <a:t>Average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Turnaround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Time(ATAT)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 </a:t>
            </a:r>
            <a:r>
              <a:rPr sz="2000" dirty="0">
                <a:latin typeface="Times New Roman"/>
                <a:cs typeface="Times New Roman"/>
              </a:rPr>
              <a:t>(22+6+22+8+17)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15 </a:t>
            </a:r>
            <a:r>
              <a:rPr sz="2000" spc="-25" dirty="0">
                <a:latin typeface="Times New Roman"/>
                <a:cs typeface="Times New Roman"/>
              </a:rPr>
              <a:t>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2219"/>
            <a:ext cx="7972425" cy="15240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865"/>
              </a:spcBef>
            </a:pPr>
            <a:r>
              <a:rPr sz="4000" spc="-30" dirty="0"/>
              <a:t>Round-</a:t>
            </a:r>
            <a:r>
              <a:rPr sz="4000" dirty="0"/>
              <a:t>Robin </a:t>
            </a:r>
            <a:r>
              <a:rPr sz="4000" spc="-20" dirty="0"/>
              <a:t>Scheduling</a:t>
            </a:r>
            <a:r>
              <a:rPr sz="4000" spc="-220" dirty="0"/>
              <a:t> </a:t>
            </a:r>
            <a:r>
              <a:rPr sz="4000" spc="-10" dirty="0"/>
              <a:t>Algorithm</a:t>
            </a:r>
            <a:endParaRPr sz="4000"/>
          </a:p>
          <a:p>
            <a:pPr marL="12700" marR="333375">
              <a:lnSpc>
                <a:spcPts val="3170"/>
              </a:lnSpc>
            </a:pPr>
            <a:r>
              <a:rPr sz="2200" spc="-20" dirty="0">
                <a:solidFill>
                  <a:srgbClr val="000000"/>
                </a:solidFill>
              </a:rPr>
              <a:t>Waiting</a:t>
            </a:r>
            <a:r>
              <a:rPr sz="2200" spc="-8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Time(WT)</a:t>
            </a:r>
            <a:r>
              <a:rPr sz="2200" spc="-3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=</a:t>
            </a:r>
            <a:r>
              <a:rPr sz="2200" spc="-100" dirty="0">
                <a:solidFill>
                  <a:srgbClr val="000000"/>
                </a:solidFill>
              </a:rPr>
              <a:t> </a:t>
            </a:r>
            <a:r>
              <a:rPr sz="2200" spc="-30" dirty="0">
                <a:solidFill>
                  <a:srgbClr val="000000"/>
                </a:solidFill>
              </a:rPr>
              <a:t>Turnaround</a:t>
            </a:r>
            <a:r>
              <a:rPr sz="2200" spc="-80" dirty="0">
                <a:solidFill>
                  <a:srgbClr val="000000"/>
                </a:solidFill>
              </a:rPr>
              <a:t> </a:t>
            </a:r>
            <a:r>
              <a:rPr sz="2200" spc="-40" dirty="0">
                <a:solidFill>
                  <a:srgbClr val="000000"/>
                </a:solidFill>
              </a:rPr>
              <a:t>Time(TAT)</a:t>
            </a:r>
            <a:r>
              <a:rPr sz="2200" spc="-3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–</a:t>
            </a:r>
            <a:r>
              <a:rPr sz="2200" spc="-5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Burst</a:t>
            </a:r>
            <a:r>
              <a:rPr sz="2200" spc="-95" dirty="0">
                <a:solidFill>
                  <a:srgbClr val="000000"/>
                </a:solidFill>
              </a:rPr>
              <a:t> </a:t>
            </a:r>
            <a:r>
              <a:rPr sz="2200" spc="-10" dirty="0">
                <a:solidFill>
                  <a:srgbClr val="000000"/>
                </a:solidFill>
              </a:rPr>
              <a:t>Time(BT) </a:t>
            </a:r>
            <a:r>
              <a:rPr sz="2200" spc="-20" dirty="0">
                <a:solidFill>
                  <a:srgbClr val="000000"/>
                </a:solidFill>
              </a:rPr>
              <a:t>Waiting</a:t>
            </a:r>
            <a:r>
              <a:rPr sz="2200" spc="-85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Time(WT)</a:t>
            </a:r>
            <a:r>
              <a:rPr sz="2200" spc="-4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of</a:t>
            </a:r>
            <a:r>
              <a:rPr sz="2200" spc="-60" dirty="0">
                <a:solidFill>
                  <a:srgbClr val="000000"/>
                </a:solidFill>
              </a:rPr>
              <a:t> </a:t>
            </a:r>
            <a:r>
              <a:rPr sz="2200" dirty="0">
                <a:solidFill>
                  <a:srgbClr val="000000"/>
                </a:solidFill>
              </a:rPr>
              <a:t>each</a:t>
            </a:r>
            <a:r>
              <a:rPr sz="2200" spc="-60" dirty="0">
                <a:solidFill>
                  <a:srgbClr val="000000"/>
                </a:solidFill>
              </a:rPr>
              <a:t> </a:t>
            </a:r>
            <a:r>
              <a:rPr sz="2200" spc="-10" dirty="0">
                <a:solidFill>
                  <a:srgbClr val="000000"/>
                </a:solidFill>
              </a:rPr>
              <a:t>process</a:t>
            </a:r>
            <a:endParaRPr sz="22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24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383662"/>
            <a:ext cx="22047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P1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22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8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14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6457" y="2718942"/>
            <a:ext cx="9245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 </a:t>
            </a:r>
            <a:r>
              <a:rPr sz="2200" spc="-25" dirty="0">
                <a:latin typeface="Times New Roman"/>
                <a:cs typeface="Times New Roman"/>
              </a:rPr>
              <a:t>ms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15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18942"/>
            <a:ext cx="116649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P2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6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P3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22–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7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P4: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8–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7670" y="3389198"/>
            <a:ext cx="7829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725036"/>
            <a:ext cx="8376920" cy="183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P5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17–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12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185670" algn="l"/>
                <a:tab pos="3751579" algn="l"/>
                <a:tab pos="4036060" algn="l"/>
                <a:tab pos="4734560" algn="l"/>
                <a:tab pos="5699125" algn="l"/>
                <a:tab pos="7089775" algn="l"/>
              </a:tabLst>
            </a:pPr>
            <a:r>
              <a:rPr sz="2200" b="1" dirty="0">
                <a:latin typeface="Times New Roman"/>
                <a:cs typeface="Times New Roman"/>
              </a:rPr>
              <a:t>Average</a:t>
            </a:r>
            <a:r>
              <a:rPr sz="2200" b="1" spc="20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Waiting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Time(AWT)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Total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waiting</a:t>
            </a:r>
            <a:r>
              <a:rPr sz="2200" dirty="0">
                <a:latin typeface="Times New Roman"/>
                <a:cs typeface="Times New Roman"/>
              </a:rPr>
              <a:t>	time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	processes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/</a:t>
            </a:r>
            <a:endParaRPr sz="2200">
              <a:latin typeface="Times New Roman"/>
              <a:cs typeface="Times New Roman"/>
            </a:endParaRPr>
          </a:p>
          <a:p>
            <a:pPr marL="3505835">
              <a:lnSpc>
                <a:spcPct val="100000"/>
              </a:lnSpc>
            </a:pPr>
            <a:r>
              <a:rPr sz="2200" spc="-20" dirty="0">
                <a:latin typeface="Times New Roman"/>
                <a:cs typeface="Times New Roman"/>
              </a:rPr>
              <a:t>Total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processes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30" dirty="0">
                <a:latin typeface="Times New Roman"/>
                <a:cs typeface="Times New Roman"/>
              </a:rPr>
              <a:t>Average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Waiting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35" dirty="0">
                <a:latin typeface="Times New Roman"/>
                <a:cs typeface="Times New Roman"/>
              </a:rPr>
              <a:t>Time(AWT)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(14+4+15+5+12)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200" spc="-25" dirty="0">
                <a:latin typeface="Times New Roman"/>
                <a:cs typeface="Times New Roman"/>
              </a:rPr>
              <a:t> ms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095" y="795273"/>
            <a:ext cx="78663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Advantages</a:t>
            </a:r>
            <a:r>
              <a:rPr sz="3600" spc="-15" dirty="0"/>
              <a:t> </a:t>
            </a:r>
            <a:r>
              <a:rPr sz="3600" dirty="0"/>
              <a:t>of</a:t>
            </a:r>
            <a:r>
              <a:rPr sz="3600" spc="-15" dirty="0"/>
              <a:t> </a:t>
            </a:r>
            <a:r>
              <a:rPr sz="3600" spc="-10" dirty="0"/>
              <a:t>Round-</a:t>
            </a:r>
            <a:r>
              <a:rPr sz="3600" dirty="0"/>
              <a:t>Robin</a:t>
            </a:r>
            <a:r>
              <a:rPr sz="3600" spc="-30" dirty="0"/>
              <a:t> </a:t>
            </a:r>
            <a:r>
              <a:rPr sz="3600" spc="-10" dirty="0"/>
              <a:t>Scheduling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ts val="124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2262"/>
            <a:ext cx="8074025" cy="44646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5750" indent="-274955">
              <a:lnSpc>
                <a:spcPct val="100000"/>
              </a:lnSpc>
              <a:spcBef>
                <a:spcPts val="7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  <a:tab pos="5385435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doesn't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face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issues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starvation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effect.</a:t>
            </a:r>
            <a:endParaRPr sz="2600">
              <a:latin typeface="Times New Roman"/>
              <a:cs typeface="Times New Roman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get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fair allocation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CPU.</a:t>
            </a:r>
            <a:endParaRPr sz="2600">
              <a:latin typeface="Times New Roman"/>
              <a:cs typeface="Times New Roman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deals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 all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without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priority</a:t>
            </a:r>
            <a:endParaRPr sz="2600">
              <a:latin typeface="Times New Roman"/>
              <a:cs typeface="Times New Roman"/>
            </a:endParaRPr>
          </a:p>
          <a:p>
            <a:pPr marL="285115" marR="7620" indent="-274955" algn="just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scheduling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method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does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not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depend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upon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burst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time. </a:t>
            </a:r>
            <a:r>
              <a:rPr sz="2600" dirty="0">
                <a:latin typeface="Times New Roman"/>
                <a:cs typeface="Times New Roman"/>
              </a:rPr>
              <a:t>That's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easily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implementable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  <a:p>
            <a:pPr marL="285115" marR="5080" indent="-274955" algn="just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Once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executed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set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period,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preempted,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another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executes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for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given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period.</a:t>
            </a:r>
            <a:endParaRPr sz="2600">
              <a:latin typeface="Times New Roman"/>
              <a:cs typeface="Times New Roman"/>
            </a:endParaRPr>
          </a:p>
          <a:p>
            <a:pPr marL="285115" marR="5715" indent="-274955" algn="just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gives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best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performance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terms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average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response time.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568" y="827278"/>
            <a:ext cx="792924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Disadvantages</a:t>
            </a:r>
            <a:r>
              <a:rPr sz="3400" spc="-80" dirty="0"/>
              <a:t> </a:t>
            </a:r>
            <a:r>
              <a:rPr sz="3400" dirty="0"/>
              <a:t>of</a:t>
            </a:r>
            <a:r>
              <a:rPr sz="3400" spc="-95" dirty="0"/>
              <a:t> </a:t>
            </a:r>
            <a:r>
              <a:rPr sz="3400" spc="-10" dirty="0"/>
              <a:t>Round-</a:t>
            </a:r>
            <a:r>
              <a:rPr sz="3400" dirty="0"/>
              <a:t>Robin</a:t>
            </a:r>
            <a:r>
              <a:rPr sz="3400" spc="-75" dirty="0"/>
              <a:t> </a:t>
            </a:r>
            <a:r>
              <a:rPr sz="3400" spc="-10" dirty="0"/>
              <a:t>Scheduling</a:t>
            </a:r>
            <a:endParaRPr sz="3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ts val="124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1282"/>
            <a:ext cx="807339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495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slicing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OS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low,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processor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output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will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be </a:t>
            </a:r>
            <a:r>
              <a:rPr sz="2600" spc="-10" dirty="0">
                <a:latin typeface="Times New Roman"/>
                <a:cs typeface="Times New Roman"/>
              </a:rPr>
              <a:t>reduced.</a:t>
            </a:r>
            <a:endParaRPr sz="2600">
              <a:latin typeface="Times New Roman"/>
              <a:cs typeface="Times New Roman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method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spends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context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switching</a:t>
            </a:r>
            <a:endParaRPr sz="2600">
              <a:latin typeface="Times New Roman"/>
              <a:cs typeface="Times New Roman"/>
            </a:endParaRPr>
          </a:p>
          <a:p>
            <a:pPr marL="28575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Its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performance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heavily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depends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 </a:t>
            </a:r>
            <a:r>
              <a:rPr sz="2600" spc="-10" dirty="0">
                <a:latin typeface="Times New Roman"/>
                <a:cs typeface="Times New Roman"/>
              </a:rPr>
              <a:t>quantum.</a:t>
            </a:r>
            <a:endParaRPr sz="2600">
              <a:latin typeface="Times New Roman"/>
              <a:cs typeface="Times New Roman"/>
            </a:endParaRPr>
          </a:p>
          <a:p>
            <a:pPr marL="285750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Priorities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cannot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processes.</a:t>
            </a:r>
            <a:endParaRPr sz="2600">
              <a:latin typeface="Times New Roman"/>
              <a:cs typeface="Times New Roman"/>
            </a:endParaRPr>
          </a:p>
          <a:p>
            <a:pPr marL="285115" marR="8890" indent="-27495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  <a:tab pos="2139950" algn="l"/>
                <a:tab pos="3738879" algn="l"/>
                <a:tab pos="4824730" algn="l"/>
                <a:tab pos="5560695" algn="l"/>
                <a:tab pos="6641465" algn="l"/>
                <a:tab pos="7799705" algn="l"/>
              </a:tabLst>
            </a:pPr>
            <a:r>
              <a:rPr sz="2600" dirty="0">
                <a:latin typeface="Times New Roman"/>
                <a:cs typeface="Times New Roman"/>
              </a:rPr>
              <a:t>Round-</a:t>
            </a:r>
            <a:r>
              <a:rPr sz="2600" spc="-20" dirty="0">
                <a:latin typeface="Times New Roman"/>
                <a:cs typeface="Times New Roman"/>
              </a:rPr>
              <a:t>robin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scheduling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doesn't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give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special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priority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important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tasks.</a:t>
            </a:r>
            <a:endParaRPr sz="2600">
              <a:latin typeface="Times New Roman"/>
              <a:cs typeface="Times New Roman"/>
            </a:endParaRPr>
          </a:p>
          <a:p>
            <a:pPr marL="285115" marR="8255" indent="-27495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5115" algn="l"/>
                <a:tab pos="1408430" algn="l"/>
                <a:tab pos="2256155" algn="l"/>
                <a:tab pos="3675379" algn="l"/>
                <a:tab pos="4798695" algn="l"/>
                <a:tab pos="5316855" algn="l"/>
                <a:tab pos="6421755" algn="l"/>
                <a:tab pos="7087870" algn="l"/>
              </a:tabLst>
            </a:pPr>
            <a:r>
              <a:rPr sz="2600" spc="-10" dirty="0">
                <a:latin typeface="Times New Roman"/>
                <a:cs typeface="Times New Roman"/>
              </a:rPr>
              <a:t>Lower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time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quantum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results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higher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context </a:t>
            </a:r>
            <a:r>
              <a:rPr sz="2600" dirty="0">
                <a:latin typeface="Times New Roman"/>
                <a:cs typeface="Times New Roman"/>
              </a:rPr>
              <a:t>switching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overhead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3055</Words>
  <Application>Microsoft Office PowerPoint</Application>
  <PresentationFormat>On-screen Show (4:3)</PresentationFormat>
  <Paragraphs>617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Calibri</vt:lpstr>
      <vt:lpstr>Constantia</vt:lpstr>
      <vt:lpstr>Segoe UI Symbol</vt:lpstr>
      <vt:lpstr>Times New Roman</vt:lpstr>
      <vt:lpstr>Wingdings</vt:lpstr>
      <vt:lpstr>Office Theme</vt:lpstr>
      <vt:lpstr>Operating System : Scheduling Algorithms</vt:lpstr>
      <vt:lpstr>Scheduling Algorithm</vt:lpstr>
      <vt:lpstr>Scheduling Algorithm</vt:lpstr>
      <vt:lpstr>FCFS Scheduling Algorithm</vt:lpstr>
      <vt:lpstr>FCFS Scheduling Algorithm</vt:lpstr>
      <vt:lpstr>FCFS Scheduling Algorithm</vt:lpstr>
      <vt:lpstr>FCFS Scheduling Algorithm</vt:lpstr>
      <vt:lpstr>FCFS Scheduling Algorithm</vt:lpstr>
      <vt:lpstr>FCFS Scheduling Algorithm</vt:lpstr>
      <vt:lpstr>FCFS Scheduling Algorithm</vt:lpstr>
      <vt:lpstr>SJF Scheduling Algorithm</vt:lpstr>
      <vt:lpstr>Types of SJF Scheduling Algorithm</vt:lpstr>
      <vt:lpstr>SJF Scheduling Algorithm</vt:lpstr>
      <vt:lpstr>Nonpreemptive SJF Scheduling Algorithm</vt:lpstr>
      <vt:lpstr>Nonpreemptive SJF Scheduling Algorithm</vt:lpstr>
      <vt:lpstr>Nonpreemptive SJF Scheduling Algorithm</vt:lpstr>
      <vt:lpstr>Preemptive SJF Algorithm</vt:lpstr>
      <vt:lpstr>Preemptive SJF Scheduling Algorithm</vt:lpstr>
      <vt:lpstr>Preemptive SJF Scheduling Algorithm</vt:lpstr>
      <vt:lpstr>Priority Scheduling</vt:lpstr>
      <vt:lpstr>Priority Scheduling Algorithm</vt:lpstr>
      <vt:lpstr>Priority Scheduling Algorithm</vt:lpstr>
      <vt:lpstr>Priority Scheduling Algorithm</vt:lpstr>
      <vt:lpstr>Preemptive Priority Scheduling</vt:lpstr>
      <vt:lpstr>Priority Scheduling Algorithm</vt:lpstr>
      <vt:lpstr>Priority Scheduling Algorithm Waiting Time(WT) = Turnaround Time(TAT) – Burst Time(BT)</vt:lpstr>
      <vt:lpstr>Starvation and Ageing</vt:lpstr>
      <vt:lpstr>Round-Robin Scheduling Algorithm</vt:lpstr>
      <vt:lpstr>Round-Robin Scheduling Algorithm</vt:lpstr>
      <vt:lpstr>Round-Robin Scheduling Algorithm</vt:lpstr>
      <vt:lpstr>Round-Robin Scheduling Algorithm</vt:lpstr>
      <vt:lpstr>Round-Robin Scheduling Algorithm when arrival time is given</vt:lpstr>
      <vt:lpstr>Round-Robin Scheduling Algorithm</vt:lpstr>
      <vt:lpstr>Round-Robin Scheduling Algorithm Waiting Time(WT) = Turnaround Time(TAT) – Burst Time(BT) Waiting Time(WT) of each process</vt:lpstr>
      <vt:lpstr>Advantages of Round-Robin Scheduling</vt:lpstr>
      <vt:lpstr>Disadvantages of Round-Robin Scheduling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atharv</dc:creator>
  <cp:lastModifiedBy>Naveen g</cp:lastModifiedBy>
  <cp:revision>1</cp:revision>
  <dcterms:created xsi:type="dcterms:W3CDTF">2025-12-05T08:35:06Z</dcterms:created>
  <dcterms:modified xsi:type="dcterms:W3CDTF">2025-12-05T08:39:21Z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2025-12-05T00:00:00Z</vt:filetime>
  </property>
  <property fmtid="{D5CDD505-2E9C-101B-9397-08002B2CF9AE}" pid="5" name="Producer">
    <vt:lpwstr>www.ilovepdf.com</vt:lpwstr>
  </property>
</Properties>
</file>